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8" autoAdjust="0"/>
    <p:restoredTop sz="94610"/>
  </p:normalViewPr>
  <p:slideViewPr>
    <p:cSldViewPr snapToGrid="0" snapToObjects="1">
      <p:cViewPr varScale="1">
        <p:scale>
          <a:sx n="125" d="100"/>
          <a:sy n="125" d="100"/>
        </p:scale>
        <p:origin x="50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81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Duration: 15 minutes. Goal: Teach the full scope of Claude’s integration inside Figma Desktop, how designers use Claude to create and iterate on components, and how bidirectional workflows bridge the designer-developer gap.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We’ve been working with layer 2 — the MCP Server. Now let’s zoom out. Your designers need to understand layers 1 and 3, because those are the entry points that don’t require a terminal.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is the entry point for your PMs and designers who don’t use the terminal. They can create architecture diagrams, user flows, and process maps directly from conversations with Claude. No CLI required. Just remember to claim the generated FigJam file — until you do, it’s publicly accessible via the link.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For your daily workflow, Desktop MCP is the better choice. But it has a harder requirement — everyone needs Figma Desktop installed and a Dev or Full seat. Remote MCP works on all plans — but if you’re on Starter, be aware of the 6-call-per-month limit.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means a designer and developer can work side-by-side: the designer selects frames, the developer generates code from those selections in real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Code to Canvas is for exploration and design review, not for maintaining a 1:1 sync between code and Figma. Think of it as ‘I built something in code, let me send it to my designer for visual refinement.’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Notice how the tools split along the designer-developer line. Pay attention to the restrictions column — several tools only work in Claude Code with the Remote MCP server.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connects directly to hallucination prevention from Session 1. Remember phantom imports — Claude inventing components that don’t exist? Code Connect is the solution.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In Session 2, you created rules files by hand. The Figma MCP’s create_design_system_rules tool automates this — it analyzes your codebase and generates a rules file documenting your design system patterns.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Notice how Session 2’s hooks integrate here. When Claude updates your token file, the PostToolUse hook runs your tests automatically. If a color change breaks a visual test, Claude catches it in the same loop.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The biggest practical ones: Figma Variables must be manually created, the Starter plan’s 6-call limit makes Remote MCP impractical for real work, and Code Connect is only on Organization or Enterprise plans. But component generation via get_design_context works across all plans.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731520" y="914400"/>
            <a:ext cx="7680960" cy="1280160"/>
          </a:xfrm>
          <a:prstGeom prst="rect">
            <a:avLst/>
          </a:prstGeom>
          <a:noFill/>
          <a:ln/>
        </p:spPr>
        <p:txBody>
          <a:bodyPr wrap="square" lIns="0" tIns="0" rIns="0" bIns="0"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The Figma-Claude Ecosystem</a:t>
            </a:r>
            <a:endParaRPr lang="en-US" sz="4400" dirty="0"/>
          </a:p>
        </p:txBody>
      </p:sp>
      <p:sp>
        <p:nvSpPr>
          <p:cNvPr id="4" name="Text 2"/>
          <p:cNvSpPr/>
          <p:nvPr/>
        </p:nvSpPr>
        <p:spPr>
          <a:xfrm>
            <a:off x="731520" y="2286000"/>
            <a:ext cx="7680960" cy="548640"/>
          </a:xfrm>
          <a:prstGeom prst="rect">
            <a:avLst/>
          </a:prstGeom>
          <a:noFill/>
          <a:ln/>
        </p:spPr>
        <p:txBody>
          <a:bodyPr wrap="square" lIns="0" tIns="0" rIns="0" bIns="0" rtlCol="0" anchor="ctr"/>
          <a:lstStyle/>
          <a:p>
            <a:pPr marL="0" indent="0" algn="l">
              <a:buNone/>
            </a:pPr>
            <a:r>
              <a:rPr lang="en-US" sz="2200" dirty="0">
                <a:solidFill>
                  <a:srgbClr val="0ABAB5"/>
                </a:solidFill>
                <a:latin typeface="Calibri" pitchFamily="34" charset="0"/>
                <a:ea typeface="Calibri" pitchFamily="34" charset="-122"/>
                <a:cs typeface="Calibri" pitchFamily="34" charset="-120"/>
              </a:rPr>
              <a:t>Designing with AI Inside the Canvas</a:t>
            </a:r>
            <a:endParaRPr lang="en-US" sz="2200" dirty="0"/>
          </a:p>
        </p:txBody>
      </p:sp>
      <p:sp>
        <p:nvSpPr>
          <p:cNvPr id="5" name="Shape 3"/>
          <p:cNvSpPr/>
          <p:nvPr/>
        </p:nvSpPr>
        <p:spPr>
          <a:xfrm>
            <a:off x="731520" y="3063240"/>
            <a:ext cx="1645920" cy="36576"/>
          </a:xfrm>
          <a:prstGeom prst="rect">
            <a:avLst/>
          </a:prstGeom>
          <a:solidFill>
            <a:srgbClr val="0ABAB5"/>
          </a:solidFill>
          <a:ln/>
        </p:spPr>
        <p:txBody>
          <a:bodyPr/>
          <a:lstStyle/>
          <a:p>
            <a:endParaRPr lang="en-US"/>
          </a:p>
        </p:txBody>
      </p:sp>
      <p:sp>
        <p:nvSpPr>
          <p:cNvPr id="6" name="Text 4"/>
          <p:cNvSpPr/>
          <p:nvPr/>
        </p:nvSpPr>
        <p:spPr>
          <a:xfrm>
            <a:off x="731520" y="3383280"/>
            <a:ext cx="7680960" cy="457200"/>
          </a:xfrm>
          <a:prstGeom prst="rect">
            <a:avLst/>
          </a:prstGeom>
          <a:noFill/>
          <a:ln/>
        </p:spPr>
        <p:txBody>
          <a:bodyPr wrap="square" lIns="0" tIns="0" rIns="0" bIns="0" rtlCol="0" anchor="ctr"/>
          <a:lstStyle/>
          <a:p>
            <a:pPr marL="0" indent="0" algn="l">
              <a:buNone/>
            </a:pPr>
            <a:r>
              <a:rPr lang="en-US" sz="1500" dirty="0">
                <a:solidFill>
                  <a:srgbClr val="8A9BB5"/>
                </a:solidFill>
                <a:latin typeface="Calibri" pitchFamily="34" charset="0"/>
                <a:ea typeface="Calibri" pitchFamily="34" charset="-122"/>
                <a:cs typeface="Calibri" pitchFamily="34" charset="-120"/>
              </a:rPr>
              <a:t>Session 3 — The Design-to-Code Pipeline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Beyond MCP: The Complete Picture</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Three integration layers, each serving a different role</a:t>
            </a:r>
            <a:endParaRPr lang="en-US" sz="1500" dirty="0"/>
          </a:p>
        </p:txBody>
      </p:sp>
      <p:sp>
        <p:nvSpPr>
          <p:cNvPr id="5" name="Shape 3"/>
          <p:cNvSpPr/>
          <p:nvPr/>
        </p:nvSpPr>
        <p:spPr>
          <a:xfrm>
            <a:off x="548640" y="1417320"/>
            <a:ext cx="8046720" cy="8046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54864" cy="804672"/>
          </a:xfrm>
          <a:prstGeom prst="rect">
            <a:avLst/>
          </a:prstGeom>
          <a:solidFill>
            <a:srgbClr val="0ABAB5"/>
          </a:solidFill>
          <a:ln/>
        </p:spPr>
        <p:txBody>
          <a:bodyPr/>
          <a:lstStyle/>
          <a:p>
            <a:endParaRPr lang="en-US"/>
          </a:p>
        </p:txBody>
      </p:sp>
      <p:sp>
        <p:nvSpPr>
          <p:cNvPr id="7" name="Shape 5"/>
          <p:cNvSpPr/>
          <p:nvPr/>
        </p:nvSpPr>
        <p:spPr>
          <a:xfrm>
            <a:off x="749808" y="1627632"/>
            <a:ext cx="384048" cy="384048"/>
          </a:xfrm>
          <a:prstGeom prst="line">
            <a:avLst/>
          </a:prstGeom>
          <a:solidFill>
            <a:srgbClr val="0ABAB5"/>
          </a:solidFill>
          <a:ln/>
        </p:spPr>
        <p:txBody>
          <a:bodyPr/>
          <a:lstStyle/>
          <a:p>
            <a:endParaRPr lang="en-US"/>
          </a:p>
        </p:txBody>
      </p:sp>
      <p:sp>
        <p:nvSpPr>
          <p:cNvPr id="8" name="Text 6"/>
          <p:cNvSpPr/>
          <p:nvPr/>
        </p:nvSpPr>
        <p:spPr>
          <a:xfrm>
            <a:off x="749808" y="16276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80160" y="1490472"/>
            <a:ext cx="2926080" cy="320040"/>
          </a:xfrm>
          <a:prstGeom prst="rect">
            <a:avLst/>
          </a:prstGeom>
          <a:noFill/>
          <a:ln/>
        </p:spPr>
        <p:txBody>
          <a:bodyPr wrap="square" lIns="0" tIns="0" rIns="0" bIns="0" rtlCol="0" anchor="ctr"/>
          <a:lstStyle/>
          <a:p>
            <a:pPr marL="0" indent="0">
              <a:buNone/>
            </a:pPr>
            <a:r>
              <a:rPr lang="en-US" sz="1700" b="1" dirty="0">
                <a:solidFill>
                  <a:srgbClr val="1E3A5F"/>
                </a:solidFill>
                <a:latin typeface="Calibri" pitchFamily="34" charset="0"/>
                <a:ea typeface="Calibri" pitchFamily="34" charset="-122"/>
                <a:cs typeface="Calibri" pitchFamily="34" charset="-120"/>
              </a:rPr>
              <a:t>Figma Connector</a:t>
            </a:r>
            <a:endParaRPr lang="en-US" sz="1700" dirty="0"/>
          </a:p>
        </p:txBody>
      </p:sp>
      <p:sp>
        <p:nvSpPr>
          <p:cNvPr id="10" name="Text 8"/>
          <p:cNvSpPr/>
          <p:nvPr/>
        </p:nvSpPr>
        <p:spPr>
          <a:xfrm>
            <a:off x="1280160" y="1828800"/>
            <a:ext cx="3657600" cy="274320"/>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Claude reads Figma files, generates FigJam diagrams</a:t>
            </a:r>
            <a:endParaRPr lang="en-US" sz="1200" dirty="0"/>
          </a:p>
        </p:txBody>
      </p:sp>
      <p:sp>
        <p:nvSpPr>
          <p:cNvPr id="11" name="Shape 9"/>
          <p:cNvSpPr/>
          <p:nvPr/>
        </p:nvSpPr>
        <p:spPr>
          <a:xfrm>
            <a:off x="5852160" y="1600200"/>
            <a:ext cx="2560320" cy="438912"/>
          </a:xfrm>
          <a:prstGeom prst="rect">
            <a:avLst/>
          </a:prstGeom>
          <a:solidFill>
            <a:srgbClr val="F7F9FB"/>
          </a:solidFill>
          <a:ln/>
        </p:spPr>
        <p:txBody>
          <a:bodyPr/>
          <a:lstStyle/>
          <a:p>
            <a:endParaRPr lang="en-US"/>
          </a:p>
        </p:txBody>
      </p:sp>
      <p:sp>
        <p:nvSpPr>
          <p:cNvPr id="12" name="Text 10"/>
          <p:cNvSpPr/>
          <p:nvPr/>
        </p:nvSpPr>
        <p:spPr>
          <a:xfrm>
            <a:off x="5852160" y="1600200"/>
            <a:ext cx="2560320" cy="438912"/>
          </a:xfrm>
          <a:prstGeom prst="rect">
            <a:avLst/>
          </a:prstGeom>
          <a:noFill/>
          <a:ln/>
        </p:spPr>
        <p:txBody>
          <a:bodyPr wrap="square" lIns="0" tIns="0" rIns="0" bIns="0" rtlCol="0" anchor="ctr"/>
          <a:lstStyle/>
          <a:p>
            <a:pPr marL="0" indent="0" algn="ctr">
              <a:buNone/>
            </a:pPr>
            <a:r>
              <a:rPr lang="en-US" sz="1200" dirty="0">
                <a:solidFill>
                  <a:srgbClr val="089E9A"/>
                </a:solidFill>
                <a:latin typeface="Consolas" pitchFamily="34" charset="0"/>
                <a:ea typeface="Consolas" pitchFamily="34" charset="-122"/>
                <a:cs typeface="Consolas" pitchFamily="34" charset="-120"/>
              </a:rPr>
              <a:t>Claude → Figma</a:t>
            </a:r>
            <a:endParaRPr lang="en-US" sz="1200" dirty="0"/>
          </a:p>
        </p:txBody>
      </p:sp>
      <p:sp>
        <p:nvSpPr>
          <p:cNvPr id="13" name="Shape 11"/>
          <p:cNvSpPr/>
          <p:nvPr/>
        </p:nvSpPr>
        <p:spPr>
          <a:xfrm>
            <a:off x="548640" y="2331720"/>
            <a:ext cx="8046720" cy="8046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548640" y="2331720"/>
            <a:ext cx="54864" cy="804672"/>
          </a:xfrm>
          <a:prstGeom prst="rect">
            <a:avLst/>
          </a:prstGeom>
          <a:solidFill>
            <a:srgbClr val="1E3A5F"/>
          </a:solidFill>
          <a:ln/>
        </p:spPr>
        <p:txBody>
          <a:bodyPr/>
          <a:lstStyle/>
          <a:p>
            <a:endParaRPr lang="en-US"/>
          </a:p>
        </p:txBody>
      </p:sp>
      <p:sp>
        <p:nvSpPr>
          <p:cNvPr id="15" name="Shape 13"/>
          <p:cNvSpPr/>
          <p:nvPr/>
        </p:nvSpPr>
        <p:spPr>
          <a:xfrm>
            <a:off x="749808" y="2542032"/>
            <a:ext cx="384048" cy="384048"/>
          </a:xfrm>
          <a:prstGeom prst="line">
            <a:avLst/>
          </a:prstGeom>
          <a:solidFill>
            <a:srgbClr val="1E3A5F"/>
          </a:solidFill>
          <a:ln/>
        </p:spPr>
        <p:txBody>
          <a:bodyPr/>
          <a:lstStyle/>
          <a:p>
            <a:endParaRPr lang="en-US"/>
          </a:p>
        </p:txBody>
      </p:sp>
      <p:sp>
        <p:nvSpPr>
          <p:cNvPr id="16" name="Text 14"/>
          <p:cNvSpPr/>
          <p:nvPr/>
        </p:nvSpPr>
        <p:spPr>
          <a:xfrm>
            <a:off x="749808" y="25420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1280160" y="2404872"/>
            <a:ext cx="2926080" cy="320040"/>
          </a:xfrm>
          <a:prstGeom prst="rect">
            <a:avLst/>
          </a:prstGeom>
          <a:noFill/>
          <a:ln/>
        </p:spPr>
        <p:txBody>
          <a:bodyPr wrap="square" lIns="0" tIns="0" rIns="0" bIns="0" rtlCol="0" anchor="ctr"/>
          <a:lstStyle/>
          <a:p>
            <a:pPr marL="0" indent="0">
              <a:buNone/>
            </a:pPr>
            <a:r>
              <a:rPr lang="en-US" sz="1700" b="1" dirty="0">
                <a:solidFill>
                  <a:srgbClr val="1E3A5F"/>
                </a:solidFill>
                <a:latin typeface="Calibri" pitchFamily="34" charset="0"/>
                <a:ea typeface="Calibri" pitchFamily="34" charset="-122"/>
                <a:cs typeface="Calibri" pitchFamily="34" charset="-120"/>
              </a:rPr>
              <a:t>Figma MCP Server</a:t>
            </a:r>
            <a:endParaRPr lang="en-US" sz="1700" dirty="0"/>
          </a:p>
        </p:txBody>
      </p:sp>
      <p:sp>
        <p:nvSpPr>
          <p:cNvPr id="18" name="Text 16"/>
          <p:cNvSpPr/>
          <p:nvPr/>
        </p:nvSpPr>
        <p:spPr>
          <a:xfrm>
            <a:off x="1280160" y="2743200"/>
            <a:ext cx="4114800" cy="274320"/>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Claude Code reads designs, generates production code</a:t>
            </a:r>
            <a:endParaRPr lang="en-US" sz="1200" dirty="0"/>
          </a:p>
        </p:txBody>
      </p:sp>
      <p:sp>
        <p:nvSpPr>
          <p:cNvPr id="19" name="Shape 17"/>
          <p:cNvSpPr/>
          <p:nvPr/>
        </p:nvSpPr>
        <p:spPr>
          <a:xfrm>
            <a:off x="5852160" y="2514600"/>
            <a:ext cx="2560320" cy="438912"/>
          </a:xfrm>
          <a:prstGeom prst="rect">
            <a:avLst/>
          </a:prstGeom>
          <a:solidFill>
            <a:srgbClr val="F7F9FB"/>
          </a:solidFill>
          <a:ln/>
        </p:spPr>
        <p:txBody>
          <a:bodyPr/>
          <a:lstStyle/>
          <a:p>
            <a:endParaRPr lang="en-US"/>
          </a:p>
        </p:txBody>
      </p:sp>
      <p:sp>
        <p:nvSpPr>
          <p:cNvPr id="20" name="Text 18"/>
          <p:cNvSpPr/>
          <p:nvPr/>
        </p:nvSpPr>
        <p:spPr>
          <a:xfrm>
            <a:off x="5852160" y="2514600"/>
            <a:ext cx="2560320" cy="438912"/>
          </a:xfrm>
          <a:prstGeom prst="rect">
            <a:avLst/>
          </a:prstGeom>
          <a:noFill/>
          <a:ln/>
        </p:spPr>
        <p:txBody>
          <a:bodyPr wrap="square" lIns="0" tIns="0" rIns="0" bIns="0" rtlCol="0" anchor="ctr"/>
          <a:lstStyle/>
          <a:p>
            <a:pPr marL="0" indent="0" algn="ctr">
              <a:buNone/>
            </a:pPr>
            <a:r>
              <a:rPr lang="en-US" sz="1200" dirty="0">
                <a:solidFill>
                  <a:srgbClr val="1E3A5F"/>
                </a:solidFill>
                <a:latin typeface="Consolas" pitchFamily="34" charset="0"/>
                <a:ea typeface="Consolas" pitchFamily="34" charset="-122"/>
                <a:cs typeface="Consolas" pitchFamily="34" charset="-120"/>
              </a:rPr>
              <a:t>Figma → Claude Code  ✓</a:t>
            </a:r>
            <a:endParaRPr lang="en-US" sz="1200" dirty="0"/>
          </a:p>
        </p:txBody>
      </p:sp>
      <p:sp>
        <p:nvSpPr>
          <p:cNvPr id="21" name="Shape 19"/>
          <p:cNvSpPr/>
          <p:nvPr/>
        </p:nvSpPr>
        <p:spPr>
          <a:xfrm>
            <a:off x="548640" y="3246120"/>
            <a:ext cx="8046720" cy="8046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2" name="Shape 20"/>
          <p:cNvSpPr/>
          <p:nvPr/>
        </p:nvSpPr>
        <p:spPr>
          <a:xfrm>
            <a:off x="548640" y="3246120"/>
            <a:ext cx="54864" cy="804672"/>
          </a:xfrm>
          <a:prstGeom prst="rect">
            <a:avLst/>
          </a:prstGeom>
          <a:solidFill>
            <a:srgbClr val="F39C12"/>
          </a:solidFill>
          <a:ln/>
        </p:spPr>
        <p:txBody>
          <a:bodyPr/>
          <a:lstStyle/>
          <a:p>
            <a:endParaRPr lang="en-US"/>
          </a:p>
        </p:txBody>
      </p:sp>
      <p:sp>
        <p:nvSpPr>
          <p:cNvPr id="23" name="Shape 21"/>
          <p:cNvSpPr/>
          <p:nvPr/>
        </p:nvSpPr>
        <p:spPr>
          <a:xfrm>
            <a:off x="749808" y="3456432"/>
            <a:ext cx="384048" cy="384048"/>
          </a:xfrm>
          <a:prstGeom prst="line">
            <a:avLst/>
          </a:prstGeom>
          <a:solidFill>
            <a:srgbClr val="F39C12"/>
          </a:solidFill>
          <a:ln/>
        </p:spPr>
        <p:txBody>
          <a:bodyPr/>
          <a:lstStyle/>
          <a:p>
            <a:endParaRPr lang="en-US"/>
          </a:p>
        </p:txBody>
      </p:sp>
      <p:sp>
        <p:nvSpPr>
          <p:cNvPr id="24" name="Text 22"/>
          <p:cNvSpPr/>
          <p:nvPr/>
        </p:nvSpPr>
        <p:spPr>
          <a:xfrm>
            <a:off x="749808" y="34564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1280160" y="3319272"/>
            <a:ext cx="3200400" cy="320040"/>
          </a:xfrm>
          <a:prstGeom prst="rect">
            <a:avLst/>
          </a:prstGeom>
          <a:noFill/>
          <a:ln/>
        </p:spPr>
        <p:txBody>
          <a:bodyPr wrap="square" lIns="0" tIns="0" rIns="0" bIns="0" rtlCol="0" anchor="ctr"/>
          <a:lstStyle/>
          <a:p>
            <a:pPr marL="0" indent="0">
              <a:buNone/>
            </a:pPr>
            <a:r>
              <a:rPr lang="en-US" sz="1700" b="1" dirty="0">
                <a:solidFill>
                  <a:srgbClr val="1E3A5F"/>
                </a:solidFill>
                <a:latin typeface="Calibri" pitchFamily="34" charset="0"/>
                <a:ea typeface="Calibri" pitchFamily="34" charset="-122"/>
                <a:cs typeface="Calibri" pitchFamily="34" charset="-120"/>
              </a:rPr>
              <a:t>Code to Canvas</a:t>
            </a:r>
            <a:endParaRPr lang="en-US" sz="1700" dirty="0"/>
          </a:p>
        </p:txBody>
      </p:sp>
      <p:sp>
        <p:nvSpPr>
          <p:cNvPr id="26" name="Text 24"/>
          <p:cNvSpPr/>
          <p:nvPr/>
        </p:nvSpPr>
        <p:spPr>
          <a:xfrm>
            <a:off x="1280160" y="3657600"/>
            <a:ext cx="4114800" cy="274320"/>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Claude Code builds UI, captures to editable Figma frames</a:t>
            </a:r>
            <a:endParaRPr lang="en-US" sz="1200" dirty="0"/>
          </a:p>
        </p:txBody>
      </p:sp>
      <p:sp>
        <p:nvSpPr>
          <p:cNvPr id="27" name="Shape 25"/>
          <p:cNvSpPr/>
          <p:nvPr/>
        </p:nvSpPr>
        <p:spPr>
          <a:xfrm>
            <a:off x="5852160" y="3429000"/>
            <a:ext cx="2560320" cy="438912"/>
          </a:xfrm>
          <a:prstGeom prst="rect">
            <a:avLst/>
          </a:prstGeom>
          <a:solidFill>
            <a:srgbClr val="F7F9FB"/>
          </a:solidFill>
          <a:ln/>
        </p:spPr>
        <p:txBody>
          <a:bodyPr/>
          <a:lstStyle/>
          <a:p>
            <a:endParaRPr lang="en-US"/>
          </a:p>
        </p:txBody>
      </p:sp>
      <p:sp>
        <p:nvSpPr>
          <p:cNvPr id="28" name="Text 26"/>
          <p:cNvSpPr/>
          <p:nvPr/>
        </p:nvSpPr>
        <p:spPr>
          <a:xfrm>
            <a:off x="5852160" y="3429000"/>
            <a:ext cx="2560320" cy="438912"/>
          </a:xfrm>
          <a:prstGeom prst="rect">
            <a:avLst/>
          </a:prstGeom>
          <a:noFill/>
          <a:ln/>
        </p:spPr>
        <p:txBody>
          <a:bodyPr wrap="square" lIns="0" tIns="0" rIns="0" bIns="0" rtlCol="0" anchor="ctr"/>
          <a:lstStyle/>
          <a:p>
            <a:pPr marL="0" indent="0" algn="ctr">
              <a:buNone/>
            </a:pPr>
            <a:r>
              <a:rPr lang="en-US" sz="1200" dirty="0">
                <a:solidFill>
                  <a:srgbClr val="F39C12"/>
                </a:solidFill>
                <a:latin typeface="Consolas" pitchFamily="34" charset="0"/>
                <a:ea typeface="Consolas" pitchFamily="34" charset="-122"/>
                <a:cs typeface="Consolas" pitchFamily="34" charset="-120"/>
              </a:rPr>
              <a:t>Bidirectional ↔</a:t>
            </a:r>
            <a:endParaRPr lang="en-US" sz="1200" dirty="0"/>
          </a:p>
        </p:txBody>
      </p:sp>
      <p:sp>
        <p:nvSpPr>
          <p:cNvPr id="29" name="Shape 27"/>
          <p:cNvSpPr/>
          <p:nvPr/>
        </p:nvSpPr>
        <p:spPr>
          <a:xfrm>
            <a:off x="0" y="4434840"/>
            <a:ext cx="9144000" cy="713232"/>
          </a:xfrm>
          <a:prstGeom prst="rect">
            <a:avLst/>
          </a:prstGeom>
          <a:solidFill>
            <a:srgbClr val="1E3A5F"/>
          </a:solidFill>
          <a:ln/>
        </p:spPr>
        <p:txBody>
          <a:bodyPr/>
          <a:lstStyle/>
          <a:p>
            <a:endParaRPr lang="en-US"/>
          </a:p>
        </p:txBody>
      </p:sp>
      <p:sp>
        <p:nvSpPr>
          <p:cNvPr id="30" name="Text 28"/>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We covered layer 2 in the presentation and demo. Now let’s zoom out to the full ecosystem.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The Figma Connector</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Claude reads your designs — no terminal required</a:t>
            </a:r>
            <a:endParaRPr lang="en-US" sz="1500" dirty="0"/>
          </a:p>
        </p:txBody>
      </p:sp>
      <p:sp>
        <p:nvSpPr>
          <p:cNvPr id="5" name="Shape 3"/>
          <p:cNvSpPr/>
          <p:nvPr/>
        </p:nvSpPr>
        <p:spPr>
          <a:xfrm>
            <a:off x="548640" y="1417320"/>
            <a:ext cx="384048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3840480" cy="54864"/>
          </a:xfrm>
          <a:prstGeom prst="rect">
            <a:avLst/>
          </a:prstGeom>
          <a:solidFill>
            <a:srgbClr val="0ABAB5"/>
          </a:solidFill>
          <a:ln/>
        </p:spPr>
        <p:txBody>
          <a:bodyPr/>
          <a:lstStyle/>
          <a:p>
            <a:endParaRPr lang="en-US"/>
          </a:p>
        </p:txBody>
      </p:sp>
      <p:sp>
        <p:nvSpPr>
          <p:cNvPr id="7" name="Text 5"/>
          <p:cNvSpPr/>
          <p:nvPr/>
        </p:nvSpPr>
        <p:spPr>
          <a:xfrm>
            <a:off x="777240" y="1536192"/>
            <a:ext cx="3383280" cy="320040"/>
          </a:xfrm>
          <a:prstGeom prst="rect">
            <a:avLst/>
          </a:prstGeom>
          <a:noFill/>
          <a:ln/>
        </p:spPr>
        <p:txBody>
          <a:bodyPr wrap="square" lIns="0" tIns="0" rIns="0" bIns="0"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How It Works</a:t>
            </a:r>
            <a:endParaRPr lang="en-US" sz="1600" dirty="0"/>
          </a:p>
        </p:txBody>
      </p:sp>
      <p:sp>
        <p:nvSpPr>
          <p:cNvPr id="8" name="Shape 6"/>
          <p:cNvSpPr/>
          <p:nvPr/>
        </p:nvSpPr>
        <p:spPr>
          <a:xfrm>
            <a:off x="777240" y="2002536"/>
            <a:ext cx="384048" cy="384048"/>
          </a:xfrm>
          <a:prstGeom prst="line">
            <a:avLst/>
          </a:prstGeom>
          <a:solidFill>
            <a:srgbClr val="0ABAB5"/>
          </a:solidFill>
          <a:ln/>
        </p:spPr>
        <p:txBody>
          <a:bodyPr/>
          <a:lstStyle/>
          <a:p>
            <a:endParaRPr lang="en-US"/>
          </a:p>
        </p:txBody>
      </p:sp>
      <p:sp>
        <p:nvSpPr>
          <p:cNvPr id="9" name="Text 7"/>
          <p:cNvSpPr/>
          <p:nvPr/>
        </p:nvSpPr>
        <p:spPr>
          <a:xfrm>
            <a:off x="777240" y="20025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280160" y="1965960"/>
            <a:ext cx="2926080" cy="347472"/>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Open Claude (web or desktop app)</a:t>
            </a:r>
            <a:endParaRPr lang="en-US" sz="1200" dirty="0"/>
          </a:p>
        </p:txBody>
      </p:sp>
      <p:sp>
        <p:nvSpPr>
          <p:cNvPr id="11" name="Shape 9"/>
          <p:cNvSpPr/>
          <p:nvPr/>
        </p:nvSpPr>
        <p:spPr>
          <a:xfrm>
            <a:off x="777240" y="2441448"/>
            <a:ext cx="384048" cy="384048"/>
          </a:xfrm>
          <a:prstGeom prst="line">
            <a:avLst/>
          </a:prstGeom>
          <a:solidFill>
            <a:srgbClr val="0ABAB5"/>
          </a:solidFill>
          <a:ln/>
        </p:spPr>
        <p:txBody>
          <a:bodyPr/>
          <a:lstStyle/>
          <a:p>
            <a:endParaRPr lang="en-US"/>
          </a:p>
        </p:txBody>
      </p:sp>
      <p:sp>
        <p:nvSpPr>
          <p:cNvPr id="12" name="Text 10"/>
          <p:cNvSpPr/>
          <p:nvPr/>
        </p:nvSpPr>
        <p:spPr>
          <a:xfrm>
            <a:off x="777240" y="24414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280160" y="2404872"/>
            <a:ext cx="2926080" cy="347472"/>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Settings &gt; Connectors &gt; Figma</a:t>
            </a:r>
            <a:endParaRPr lang="en-US" sz="1200" dirty="0"/>
          </a:p>
        </p:txBody>
      </p:sp>
      <p:sp>
        <p:nvSpPr>
          <p:cNvPr id="14" name="Shape 12"/>
          <p:cNvSpPr/>
          <p:nvPr/>
        </p:nvSpPr>
        <p:spPr>
          <a:xfrm>
            <a:off x="777240" y="2880360"/>
            <a:ext cx="384048" cy="384048"/>
          </a:xfrm>
          <a:prstGeom prst="line">
            <a:avLst/>
          </a:prstGeom>
          <a:solidFill>
            <a:srgbClr val="0ABAB5"/>
          </a:solidFill>
          <a:ln/>
        </p:spPr>
        <p:txBody>
          <a:bodyPr/>
          <a:lstStyle/>
          <a:p>
            <a:endParaRPr lang="en-US"/>
          </a:p>
        </p:txBody>
      </p:sp>
      <p:sp>
        <p:nvSpPr>
          <p:cNvPr id="15" name="Text 13"/>
          <p:cNvSpPr/>
          <p:nvPr/>
        </p:nvSpPr>
        <p:spPr>
          <a:xfrm>
            <a:off x="777240" y="2880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280160" y="2843784"/>
            <a:ext cx="2926080" cy="347472"/>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Authenticate with Figma account</a:t>
            </a:r>
            <a:endParaRPr lang="en-US" sz="1200" dirty="0"/>
          </a:p>
        </p:txBody>
      </p:sp>
      <p:sp>
        <p:nvSpPr>
          <p:cNvPr id="17" name="Shape 15"/>
          <p:cNvSpPr/>
          <p:nvPr/>
        </p:nvSpPr>
        <p:spPr>
          <a:xfrm>
            <a:off x="777240" y="3319272"/>
            <a:ext cx="384048" cy="384048"/>
          </a:xfrm>
          <a:prstGeom prst="line">
            <a:avLst/>
          </a:prstGeom>
          <a:solidFill>
            <a:srgbClr val="0ABAB5"/>
          </a:solidFill>
          <a:ln/>
        </p:spPr>
        <p:txBody>
          <a:bodyPr/>
          <a:lstStyle/>
          <a:p>
            <a:endParaRPr lang="en-US"/>
          </a:p>
        </p:txBody>
      </p:sp>
      <p:sp>
        <p:nvSpPr>
          <p:cNvPr id="18" name="Text 16"/>
          <p:cNvSpPr/>
          <p:nvPr/>
        </p:nvSpPr>
        <p:spPr>
          <a:xfrm>
            <a:off x="777240" y="33192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280160" y="3282696"/>
            <a:ext cx="2926080" cy="347472"/>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Prompt Claude with your Figma files</a:t>
            </a:r>
            <a:endParaRPr lang="en-US" sz="1200" dirty="0"/>
          </a:p>
        </p:txBody>
      </p:sp>
      <p:sp>
        <p:nvSpPr>
          <p:cNvPr id="20" name="Shape 18"/>
          <p:cNvSpPr/>
          <p:nvPr/>
        </p:nvSpPr>
        <p:spPr>
          <a:xfrm>
            <a:off x="4754880" y="1417320"/>
            <a:ext cx="384048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1" name="Shape 19"/>
          <p:cNvSpPr/>
          <p:nvPr/>
        </p:nvSpPr>
        <p:spPr>
          <a:xfrm>
            <a:off x="4754880" y="1417320"/>
            <a:ext cx="3840480" cy="54864"/>
          </a:xfrm>
          <a:prstGeom prst="rect">
            <a:avLst/>
          </a:prstGeom>
          <a:solidFill>
            <a:srgbClr val="1E3A5F"/>
          </a:solidFill>
          <a:ln/>
        </p:spPr>
        <p:txBody>
          <a:bodyPr/>
          <a:lstStyle/>
          <a:p>
            <a:endParaRPr lang="en-US"/>
          </a:p>
        </p:txBody>
      </p:sp>
      <p:sp>
        <p:nvSpPr>
          <p:cNvPr id="22" name="Text 20"/>
          <p:cNvSpPr/>
          <p:nvPr/>
        </p:nvSpPr>
        <p:spPr>
          <a:xfrm>
            <a:off x="4983480" y="1536192"/>
            <a:ext cx="3383280" cy="320040"/>
          </a:xfrm>
          <a:prstGeom prst="rect">
            <a:avLst/>
          </a:prstGeom>
          <a:noFill/>
          <a:ln/>
        </p:spPr>
        <p:txBody>
          <a:bodyPr wrap="square" lIns="0" tIns="0" rIns="0" bIns="0"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FigJam Diagram Types</a:t>
            </a:r>
            <a:endParaRPr lang="en-US" sz="1600" dirty="0"/>
          </a:p>
        </p:txBody>
      </p:sp>
      <p:sp>
        <p:nvSpPr>
          <p:cNvPr id="23" name="Text 21"/>
          <p:cNvSpPr/>
          <p:nvPr/>
        </p:nvSpPr>
        <p:spPr>
          <a:xfrm>
            <a:off x="4983480" y="1965960"/>
            <a:ext cx="1737360" cy="310896"/>
          </a:xfrm>
          <a:prstGeom prst="rect">
            <a:avLst/>
          </a:prstGeom>
          <a:noFill/>
          <a:ln/>
        </p:spPr>
        <p:txBody>
          <a:bodyPr wrap="square" lIns="0" tIns="0" rIns="0" bIns="0"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Flowcharts</a:t>
            </a:r>
            <a:endParaRPr lang="en-US" sz="1150" dirty="0"/>
          </a:p>
        </p:txBody>
      </p:sp>
      <p:sp>
        <p:nvSpPr>
          <p:cNvPr id="24" name="Text 22"/>
          <p:cNvSpPr/>
          <p:nvPr/>
        </p:nvSpPr>
        <p:spPr>
          <a:xfrm>
            <a:off x="6766560" y="1965960"/>
            <a:ext cx="1691640" cy="310896"/>
          </a:xfrm>
          <a:prstGeom prst="rect">
            <a:avLst/>
          </a:prstGeom>
          <a:noFill/>
          <a:ln/>
        </p:spPr>
        <p:txBody>
          <a:bodyPr wrap="square" lIns="0" tIns="0" rIns="0" bIns="0" rtlCol="0" anchor="ctr"/>
          <a:lstStyle/>
          <a:p>
            <a:pPr marL="0" indent="0">
              <a:buNone/>
            </a:pPr>
            <a:r>
              <a:rPr lang="en-US" sz="1050" dirty="0">
                <a:solidFill>
                  <a:srgbClr val="8A9BB5"/>
                </a:solidFill>
                <a:latin typeface="Calibri" pitchFamily="34" charset="0"/>
                <a:ea typeface="Calibri" pitchFamily="34" charset="-122"/>
                <a:cs typeface="Calibri" pitchFamily="34" charset="-120"/>
              </a:rPr>
              <a:t>Process documentation</a:t>
            </a:r>
            <a:endParaRPr lang="en-US" sz="1050" dirty="0"/>
          </a:p>
        </p:txBody>
      </p:sp>
      <p:sp>
        <p:nvSpPr>
          <p:cNvPr id="25" name="Text 23"/>
          <p:cNvSpPr/>
          <p:nvPr/>
        </p:nvSpPr>
        <p:spPr>
          <a:xfrm>
            <a:off x="4983480" y="2350008"/>
            <a:ext cx="1737360" cy="310896"/>
          </a:xfrm>
          <a:prstGeom prst="rect">
            <a:avLst/>
          </a:prstGeom>
          <a:noFill/>
          <a:ln/>
        </p:spPr>
        <p:txBody>
          <a:bodyPr wrap="square" lIns="0" tIns="0" rIns="0" bIns="0"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Decision trees</a:t>
            </a:r>
            <a:endParaRPr lang="en-US" sz="1150" dirty="0"/>
          </a:p>
        </p:txBody>
      </p:sp>
      <p:sp>
        <p:nvSpPr>
          <p:cNvPr id="26" name="Text 24"/>
          <p:cNvSpPr/>
          <p:nvPr/>
        </p:nvSpPr>
        <p:spPr>
          <a:xfrm>
            <a:off x="6766560" y="2350008"/>
            <a:ext cx="1691640" cy="310896"/>
          </a:xfrm>
          <a:prstGeom prst="rect">
            <a:avLst/>
          </a:prstGeom>
          <a:noFill/>
          <a:ln/>
        </p:spPr>
        <p:txBody>
          <a:bodyPr wrap="square" lIns="0" tIns="0" rIns="0" bIns="0" rtlCol="0" anchor="ctr"/>
          <a:lstStyle/>
          <a:p>
            <a:pPr marL="0" indent="0">
              <a:buNone/>
            </a:pPr>
            <a:r>
              <a:rPr lang="en-US" sz="1050" dirty="0">
                <a:solidFill>
                  <a:srgbClr val="8A9BB5"/>
                </a:solidFill>
                <a:latin typeface="Calibri" pitchFamily="34" charset="0"/>
                <a:ea typeface="Calibri" pitchFamily="34" charset="-122"/>
                <a:cs typeface="Calibri" pitchFamily="34" charset="-120"/>
              </a:rPr>
              <a:t>Business logic mapping</a:t>
            </a:r>
            <a:endParaRPr lang="en-US" sz="1050" dirty="0"/>
          </a:p>
        </p:txBody>
      </p:sp>
      <p:sp>
        <p:nvSpPr>
          <p:cNvPr id="27" name="Text 25"/>
          <p:cNvSpPr/>
          <p:nvPr/>
        </p:nvSpPr>
        <p:spPr>
          <a:xfrm>
            <a:off x="4983480" y="2734056"/>
            <a:ext cx="1737360" cy="310896"/>
          </a:xfrm>
          <a:prstGeom prst="rect">
            <a:avLst/>
          </a:prstGeom>
          <a:noFill/>
          <a:ln/>
        </p:spPr>
        <p:txBody>
          <a:bodyPr wrap="square" lIns="0" tIns="0" rIns="0" bIns="0"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Sequence diagrams</a:t>
            </a:r>
            <a:endParaRPr lang="en-US" sz="1150" dirty="0"/>
          </a:p>
        </p:txBody>
      </p:sp>
      <p:sp>
        <p:nvSpPr>
          <p:cNvPr id="28" name="Text 26"/>
          <p:cNvSpPr/>
          <p:nvPr/>
        </p:nvSpPr>
        <p:spPr>
          <a:xfrm>
            <a:off x="6766560" y="2734056"/>
            <a:ext cx="1691640" cy="310896"/>
          </a:xfrm>
          <a:prstGeom prst="rect">
            <a:avLst/>
          </a:prstGeom>
          <a:noFill/>
          <a:ln/>
        </p:spPr>
        <p:txBody>
          <a:bodyPr wrap="square" lIns="0" tIns="0" rIns="0" bIns="0" rtlCol="0" anchor="ctr"/>
          <a:lstStyle/>
          <a:p>
            <a:pPr marL="0" indent="0">
              <a:buNone/>
            </a:pPr>
            <a:r>
              <a:rPr lang="en-US" sz="1050" dirty="0">
                <a:solidFill>
                  <a:srgbClr val="8A9BB5"/>
                </a:solidFill>
                <a:latin typeface="Calibri" pitchFamily="34" charset="0"/>
                <a:ea typeface="Calibri" pitchFamily="34" charset="-122"/>
                <a:cs typeface="Calibri" pitchFamily="34" charset="-120"/>
              </a:rPr>
              <a:t>API interaction flows</a:t>
            </a:r>
            <a:endParaRPr lang="en-US" sz="1050" dirty="0"/>
          </a:p>
        </p:txBody>
      </p:sp>
      <p:sp>
        <p:nvSpPr>
          <p:cNvPr id="29" name="Text 27"/>
          <p:cNvSpPr/>
          <p:nvPr/>
        </p:nvSpPr>
        <p:spPr>
          <a:xfrm>
            <a:off x="4983480" y="3118104"/>
            <a:ext cx="1737360" cy="310896"/>
          </a:xfrm>
          <a:prstGeom prst="rect">
            <a:avLst/>
          </a:prstGeom>
          <a:noFill/>
          <a:ln/>
        </p:spPr>
        <p:txBody>
          <a:bodyPr wrap="square" lIns="0" tIns="0" rIns="0" bIns="0"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State diagrams</a:t>
            </a:r>
            <a:endParaRPr lang="en-US" sz="1150" dirty="0"/>
          </a:p>
        </p:txBody>
      </p:sp>
      <p:sp>
        <p:nvSpPr>
          <p:cNvPr id="30" name="Text 28"/>
          <p:cNvSpPr/>
          <p:nvPr/>
        </p:nvSpPr>
        <p:spPr>
          <a:xfrm>
            <a:off x="6766560" y="3118104"/>
            <a:ext cx="1691640" cy="310896"/>
          </a:xfrm>
          <a:prstGeom prst="rect">
            <a:avLst/>
          </a:prstGeom>
          <a:noFill/>
          <a:ln/>
        </p:spPr>
        <p:txBody>
          <a:bodyPr wrap="square" lIns="0" tIns="0" rIns="0" bIns="0" rtlCol="0" anchor="ctr"/>
          <a:lstStyle/>
          <a:p>
            <a:pPr marL="0" indent="0">
              <a:buNone/>
            </a:pPr>
            <a:r>
              <a:rPr lang="en-US" sz="1050" dirty="0">
                <a:solidFill>
                  <a:srgbClr val="8A9BB5"/>
                </a:solidFill>
                <a:latin typeface="Calibri" pitchFamily="34" charset="0"/>
                <a:ea typeface="Calibri" pitchFamily="34" charset="-122"/>
                <a:cs typeface="Calibri" pitchFamily="34" charset="-120"/>
              </a:rPr>
              <a:t>Component state mapping</a:t>
            </a:r>
            <a:endParaRPr lang="en-US" sz="1050" dirty="0"/>
          </a:p>
        </p:txBody>
      </p:sp>
      <p:sp>
        <p:nvSpPr>
          <p:cNvPr id="31" name="Text 29"/>
          <p:cNvSpPr/>
          <p:nvPr/>
        </p:nvSpPr>
        <p:spPr>
          <a:xfrm>
            <a:off x="4983480" y="3502152"/>
            <a:ext cx="1737360" cy="310896"/>
          </a:xfrm>
          <a:prstGeom prst="rect">
            <a:avLst/>
          </a:prstGeom>
          <a:noFill/>
          <a:ln/>
        </p:spPr>
        <p:txBody>
          <a:bodyPr wrap="square" lIns="0" tIns="0" rIns="0" bIns="0"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Gantt charts</a:t>
            </a:r>
            <a:endParaRPr lang="en-US" sz="1150" dirty="0"/>
          </a:p>
        </p:txBody>
      </p:sp>
      <p:sp>
        <p:nvSpPr>
          <p:cNvPr id="32" name="Text 30"/>
          <p:cNvSpPr/>
          <p:nvPr/>
        </p:nvSpPr>
        <p:spPr>
          <a:xfrm>
            <a:off x="6766560" y="3502152"/>
            <a:ext cx="1691640" cy="310896"/>
          </a:xfrm>
          <a:prstGeom prst="rect">
            <a:avLst/>
          </a:prstGeom>
          <a:noFill/>
          <a:ln/>
        </p:spPr>
        <p:txBody>
          <a:bodyPr wrap="square" lIns="0" tIns="0" rIns="0" bIns="0" rtlCol="0" anchor="ctr"/>
          <a:lstStyle/>
          <a:p>
            <a:pPr marL="0" indent="0">
              <a:buNone/>
            </a:pPr>
            <a:r>
              <a:rPr lang="en-US" sz="1050" dirty="0">
                <a:solidFill>
                  <a:srgbClr val="8A9BB5"/>
                </a:solidFill>
                <a:latin typeface="Calibri" pitchFamily="34" charset="0"/>
                <a:ea typeface="Calibri" pitchFamily="34" charset="-122"/>
                <a:cs typeface="Calibri" pitchFamily="34" charset="-120"/>
              </a:rPr>
              <a:t>Project planning</a:t>
            </a:r>
            <a:endParaRPr lang="en-US" sz="1050" dirty="0"/>
          </a:p>
        </p:txBody>
      </p:sp>
      <p:sp>
        <p:nvSpPr>
          <p:cNvPr id="33" name="Shape 31"/>
          <p:cNvSpPr/>
          <p:nvPr/>
        </p:nvSpPr>
        <p:spPr>
          <a:xfrm>
            <a:off x="548640" y="4041648"/>
            <a:ext cx="8046720" cy="320040"/>
          </a:xfrm>
          <a:prstGeom prst="rect">
            <a:avLst/>
          </a:prstGeom>
          <a:solidFill>
            <a:srgbClr val="F7F9FB"/>
          </a:solidFill>
          <a:ln/>
        </p:spPr>
        <p:txBody>
          <a:bodyPr/>
          <a:lstStyle/>
          <a:p>
            <a:endParaRPr lang="en-US"/>
          </a:p>
        </p:txBody>
      </p:sp>
      <p:sp>
        <p:nvSpPr>
          <p:cNvPr id="34" name="Shape 32"/>
          <p:cNvSpPr/>
          <p:nvPr/>
        </p:nvSpPr>
        <p:spPr>
          <a:xfrm>
            <a:off x="548640" y="4041648"/>
            <a:ext cx="54864" cy="320040"/>
          </a:xfrm>
          <a:prstGeom prst="rect">
            <a:avLst/>
          </a:prstGeom>
          <a:solidFill>
            <a:srgbClr val="F39C12"/>
          </a:solidFill>
          <a:ln/>
        </p:spPr>
        <p:txBody>
          <a:bodyPr/>
          <a:lstStyle/>
          <a:p>
            <a:endParaRPr lang="en-US"/>
          </a:p>
        </p:txBody>
      </p:sp>
      <p:sp>
        <p:nvSpPr>
          <p:cNvPr id="35" name="Text 33"/>
          <p:cNvSpPr/>
          <p:nvPr/>
        </p:nvSpPr>
        <p:spPr>
          <a:xfrm>
            <a:off x="777240" y="4041648"/>
            <a:ext cx="7635240" cy="32004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Requires paid Claude plan (Pro / Max / Team / Enterprise) and Claude Opus 4.5+ or Sonnet 4.5+</a:t>
            </a:r>
            <a:endParaRPr lang="en-US" sz="1100" dirty="0"/>
          </a:p>
        </p:txBody>
      </p:sp>
      <p:sp>
        <p:nvSpPr>
          <p:cNvPr id="36" name="Shape 34"/>
          <p:cNvSpPr/>
          <p:nvPr/>
        </p:nvSpPr>
        <p:spPr>
          <a:xfrm>
            <a:off x="0" y="4434840"/>
            <a:ext cx="9144000" cy="713232"/>
          </a:xfrm>
          <a:prstGeom prst="rect">
            <a:avLst/>
          </a:prstGeom>
          <a:solidFill>
            <a:srgbClr val="1E3A5F"/>
          </a:solidFill>
          <a:ln/>
        </p:spPr>
        <p:txBody>
          <a:bodyPr/>
          <a:lstStyle/>
          <a:p>
            <a:endParaRPr lang="en-US"/>
          </a:p>
        </p:txBody>
      </p:sp>
      <p:sp>
        <p:nvSpPr>
          <p:cNvPr id="37" name="Text 35"/>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Entry point for PMs and designers who don’t use the terminal. No CLI required.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Remote MCP vs Desktop MCP</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Two ways to connect Claude Code to Figma</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2432304"/>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47472">
                <a:tc>
                  <a:txBody>
                    <a:bodyPr/>
                    <a:lstStyle/>
                    <a:p>
                      <a:pPr marL="0" indent="0">
                        <a:buNone/>
                      </a:pP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Remote MCP</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Desktop MCP</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47472">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  Reference designs</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Share Figma URLs in prompts</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Select frames directly in Figma</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  Design access</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URL / link-based</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Selection-based with live canvas</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  Selection precision</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URL points to a frame</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You select exact layers</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  Requires Figma Desktop</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  Plan requirement</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All plans (Starter: 6 calls/month)</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Dev or Full seat on paid plans</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  Best for</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Quick prototyping, async work</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100" dirty="0">
                          <a:solidFill>
                            <a:srgbClr val="3B4F68"/>
                          </a:solidFill>
                          <a:latin typeface="Calibri" pitchFamily="34" charset="0"/>
                          <a:ea typeface="Calibri" pitchFamily="34" charset="-122"/>
                          <a:cs typeface="Calibri" pitchFamily="34" charset="-120"/>
                        </a:rPr>
                        <a:t>Daily workflow, pixel-precise</a:t>
                      </a:r>
                      <a:endParaRPr lang="en-US" sz="11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548640" y="3886200"/>
            <a:ext cx="8046720" cy="457200"/>
          </a:xfrm>
          <a:prstGeom prst="rect">
            <a:avLst/>
          </a:prstGeom>
          <a:solidFill>
            <a:srgbClr val="1B2D45"/>
          </a:solidFill>
          <a:ln/>
        </p:spPr>
        <p:txBody>
          <a:bodyPr/>
          <a:lstStyle/>
          <a:p>
            <a:endParaRPr lang="en-US"/>
          </a:p>
        </p:txBody>
      </p:sp>
      <p:sp>
        <p:nvSpPr>
          <p:cNvPr id="7" name="Text 4"/>
          <p:cNvSpPr/>
          <p:nvPr/>
        </p:nvSpPr>
        <p:spPr>
          <a:xfrm>
            <a:off x="777240" y="3886200"/>
            <a:ext cx="7589520" cy="457200"/>
          </a:xfrm>
          <a:prstGeom prst="rect">
            <a:avLst/>
          </a:prstGeom>
          <a:noFill/>
          <a:ln/>
        </p:spPr>
        <p:txBody>
          <a:bodyPr wrap="square" lIns="0" tIns="0" rIns="0" bIns="0" rtlCol="0" anchor="ctr"/>
          <a:lstStyle/>
          <a:p>
            <a:pPr marL="0" indent="0">
              <a:buNone/>
            </a:pPr>
            <a:r>
              <a:rPr lang="en-US" sz="1100" b="1" dirty="0">
                <a:solidFill>
                  <a:srgbClr val="0ABAB5"/>
                </a:solidFill>
                <a:latin typeface="Consolas" pitchFamily="34" charset="0"/>
                <a:ea typeface="Consolas" pitchFamily="34" charset="-122"/>
                <a:cs typeface="Consolas" pitchFamily="34" charset="-120"/>
              </a:rPr>
              <a:t>Setup: </a:t>
            </a:r>
            <a:r>
              <a:rPr lang="en-US" sz="1100" dirty="0">
                <a:solidFill>
                  <a:srgbClr val="FFFFFF"/>
                </a:solidFill>
                <a:latin typeface="Consolas" pitchFamily="34" charset="0"/>
                <a:ea typeface="Consolas" pitchFamily="34" charset="-122"/>
                <a:cs typeface="Consolas" pitchFamily="34" charset="-120"/>
              </a:rPr>
              <a:t>claude mcp add --transport http figma-desktop http://127.0.0.1:3845/mcp</a:t>
            </a:r>
            <a:endParaRPr lang="en-US" sz="1100" dirty="0"/>
          </a:p>
        </p:txBody>
      </p:sp>
      <p:sp>
        <p:nvSpPr>
          <p:cNvPr id="8" name="Shape 5"/>
          <p:cNvSpPr/>
          <p:nvPr/>
        </p:nvSpPr>
        <p:spPr>
          <a:xfrm>
            <a:off x="0" y="4434840"/>
            <a:ext cx="9144000" cy="713232"/>
          </a:xfrm>
          <a:prstGeom prst="rect">
            <a:avLst/>
          </a:prstGeom>
          <a:solidFill>
            <a:srgbClr val="1E3A5F"/>
          </a:solidFill>
          <a:ln/>
        </p:spPr>
        <p:txBody>
          <a:bodyPr/>
          <a:lstStyle/>
          <a:p>
            <a:endParaRPr lang="en-US"/>
          </a:p>
        </p:txBody>
      </p:sp>
      <p:sp>
        <p:nvSpPr>
          <p:cNvPr id="9" name="Text 6"/>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Desktop MCP = precision for daily work. Remote MCP = simpler setup, broader access.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The Selection-Based Workflow</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Select frames and generate code in real time</a:t>
            </a:r>
            <a:endParaRPr lang="en-US" sz="1500" dirty="0"/>
          </a:p>
        </p:txBody>
      </p:sp>
      <p:sp>
        <p:nvSpPr>
          <p:cNvPr id="5" name="Shape 3"/>
          <p:cNvSpPr/>
          <p:nvPr/>
        </p:nvSpPr>
        <p:spPr>
          <a:xfrm>
            <a:off x="548640" y="1417320"/>
            <a:ext cx="3840480" cy="2651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3840480" cy="54864"/>
          </a:xfrm>
          <a:prstGeom prst="rect">
            <a:avLst/>
          </a:prstGeom>
          <a:solidFill>
            <a:srgbClr val="0ABAB5"/>
          </a:solidFill>
          <a:ln/>
        </p:spPr>
        <p:txBody>
          <a:bodyPr/>
          <a:lstStyle/>
          <a:p>
            <a:endParaRPr lang="en-US"/>
          </a:p>
        </p:txBody>
      </p:sp>
      <p:sp>
        <p:nvSpPr>
          <p:cNvPr id="7" name="Shape 5"/>
          <p:cNvSpPr/>
          <p:nvPr/>
        </p:nvSpPr>
        <p:spPr>
          <a:xfrm>
            <a:off x="777240" y="1572768"/>
            <a:ext cx="438912" cy="438912"/>
          </a:xfrm>
          <a:prstGeom prst="line">
            <a:avLst/>
          </a:prstGeom>
          <a:solidFill>
            <a:srgbClr val="0ABAB5"/>
          </a:solidFill>
          <a:ln/>
        </p:spPr>
        <p:txBody>
          <a:bodyPr/>
          <a:lstStyle/>
          <a:p>
            <a:endParaRPr lang="en-US"/>
          </a:p>
        </p:txBody>
      </p:sp>
      <p:sp>
        <p:nvSpPr>
          <p:cNvPr id="8" name="Text 6"/>
          <p:cNvSpPr/>
          <p:nvPr/>
        </p:nvSpPr>
        <p:spPr>
          <a:xfrm>
            <a:off x="777240" y="157276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9" name="Text 7"/>
          <p:cNvSpPr/>
          <p:nvPr/>
        </p:nvSpPr>
        <p:spPr>
          <a:xfrm>
            <a:off x="1325880" y="1572768"/>
            <a:ext cx="2834640" cy="438912"/>
          </a:xfrm>
          <a:prstGeom prst="rect">
            <a:avLst/>
          </a:prstGeom>
          <a:noFill/>
          <a:ln/>
        </p:spPr>
        <p:txBody>
          <a:bodyPr wrap="square" lIns="0" tIns="0" rIns="0" bIns="0" rtlCol="0" anchor="ctr"/>
          <a:lstStyle/>
          <a:p>
            <a:pPr marL="0" indent="0">
              <a:buNone/>
            </a:pPr>
            <a:r>
              <a:rPr lang="en-US" sz="1500" b="1" dirty="0">
                <a:solidFill>
                  <a:srgbClr val="1E3A5F"/>
                </a:solidFill>
                <a:latin typeface="Calibri" pitchFamily="34" charset="0"/>
                <a:ea typeface="Calibri" pitchFamily="34" charset="-122"/>
                <a:cs typeface="Calibri" pitchFamily="34" charset="-120"/>
              </a:rPr>
              <a:t>Step One (Figma Desktop)</a:t>
            </a:r>
            <a:endParaRPr lang="en-US" sz="1500" dirty="0"/>
          </a:p>
        </p:txBody>
      </p:sp>
      <p:sp>
        <p:nvSpPr>
          <p:cNvPr id="10" name="Shape 8"/>
          <p:cNvSpPr/>
          <p:nvPr/>
        </p:nvSpPr>
        <p:spPr>
          <a:xfrm>
            <a:off x="777240" y="2148840"/>
            <a:ext cx="384048" cy="384048"/>
          </a:xfrm>
          <a:prstGeom prst="line">
            <a:avLst/>
          </a:prstGeom>
          <a:solidFill>
            <a:srgbClr val="0ABAB5"/>
          </a:solidFill>
          <a:ln/>
        </p:spPr>
        <p:txBody>
          <a:bodyPr/>
          <a:lstStyle/>
          <a:p>
            <a:endParaRPr lang="en-US"/>
          </a:p>
        </p:txBody>
      </p:sp>
      <p:sp>
        <p:nvSpPr>
          <p:cNvPr id="11" name="Text 9"/>
          <p:cNvSpPr/>
          <p:nvPr/>
        </p:nvSpPr>
        <p:spPr>
          <a:xfrm>
            <a:off x="777240" y="21488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280160" y="2148840"/>
            <a:ext cx="2926080" cy="320040"/>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Selects a frame in Figma</a:t>
            </a:r>
            <a:endParaRPr lang="en-US" sz="1200" dirty="0"/>
          </a:p>
        </p:txBody>
      </p:sp>
      <p:sp>
        <p:nvSpPr>
          <p:cNvPr id="13" name="Text 11"/>
          <p:cNvSpPr/>
          <p:nvPr/>
        </p:nvSpPr>
        <p:spPr>
          <a:xfrm>
            <a:off x="2011680" y="2514600"/>
            <a:ext cx="457200" cy="274320"/>
          </a:xfrm>
          <a:prstGeom prst="rect">
            <a:avLst/>
          </a:prstGeom>
          <a:noFill/>
          <a:ln/>
        </p:spPr>
        <p:txBody>
          <a:bodyPr wrap="square" lIns="0" tIns="0" rIns="0" bIns="0" rtlCol="0" anchor="ctr"/>
          <a:lstStyle/>
          <a:p>
            <a:pPr marL="0" indent="0" algn="ctr">
              <a:buNone/>
            </a:pPr>
            <a:r>
              <a:rPr lang="en-US" sz="1800" b="1" dirty="0">
                <a:solidFill>
                  <a:srgbClr val="0ABAB5"/>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777240" y="2834640"/>
            <a:ext cx="3383280" cy="411480"/>
          </a:xfrm>
          <a:prstGeom prst="rect">
            <a:avLst/>
          </a:prstGeom>
          <a:noFill/>
          <a:ln/>
        </p:spPr>
        <p:txBody>
          <a:bodyPr wrap="square" lIns="0" tIns="0" rIns="0" bIns="0" rtlCol="0" anchor="ctr"/>
          <a:lstStyle/>
          <a:p>
            <a:pPr marL="0" indent="0">
              <a:buNone/>
            </a:pPr>
            <a:r>
              <a:rPr lang="en-US" sz="1150" i="1" dirty="0">
                <a:solidFill>
                  <a:srgbClr val="8A9BB5"/>
                </a:solidFill>
                <a:latin typeface="Calibri" pitchFamily="34" charset="0"/>
                <a:ea typeface="Calibri" pitchFamily="34" charset="-122"/>
                <a:cs typeface="Calibri" pitchFamily="34" charset="-120"/>
              </a:rPr>
              <a:t>Frame data flows via</a:t>
            </a:r>
            <a:endParaRPr lang="en-US" sz="1150" dirty="0"/>
          </a:p>
          <a:p>
            <a:pPr marL="0" indent="0">
              <a:buNone/>
            </a:pPr>
            <a:r>
              <a:rPr lang="en-US" sz="1150" i="1" dirty="0">
                <a:solidFill>
                  <a:srgbClr val="8A9BB5"/>
                </a:solidFill>
                <a:latin typeface="Calibri" pitchFamily="34" charset="0"/>
                <a:ea typeface="Calibri" pitchFamily="34" charset="-122"/>
                <a:cs typeface="Calibri" pitchFamily="34" charset="-120"/>
              </a:rPr>
              <a:t>local MCP server</a:t>
            </a:r>
            <a:endParaRPr lang="en-US" sz="1150" dirty="0"/>
          </a:p>
        </p:txBody>
      </p:sp>
      <p:sp>
        <p:nvSpPr>
          <p:cNvPr id="15" name="Shape 13"/>
          <p:cNvSpPr/>
          <p:nvPr/>
        </p:nvSpPr>
        <p:spPr>
          <a:xfrm>
            <a:off x="1005840" y="3337560"/>
            <a:ext cx="3108960" cy="365760"/>
          </a:xfrm>
          <a:prstGeom prst="rect">
            <a:avLst/>
          </a:prstGeom>
          <a:solidFill>
            <a:srgbClr val="1B2D45"/>
          </a:solidFill>
          <a:ln/>
        </p:spPr>
        <p:txBody>
          <a:bodyPr/>
          <a:lstStyle/>
          <a:p>
            <a:endParaRPr lang="en-US"/>
          </a:p>
        </p:txBody>
      </p:sp>
      <p:sp>
        <p:nvSpPr>
          <p:cNvPr id="16" name="Text 14"/>
          <p:cNvSpPr/>
          <p:nvPr/>
        </p:nvSpPr>
        <p:spPr>
          <a:xfrm>
            <a:off x="1005840" y="3337560"/>
            <a:ext cx="3108960" cy="365760"/>
          </a:xfrm>
          <a:prstGeom prst="rect">
            <a:avLst/>
          </a:prstGeom>
          <a:noFill/>
          <a:ln/>
        </p:spPr>
        <p:txBody>
          <a:bodyPr wrap="square" lIns="0" tIns="0" rIns="0" bIns="0" rtlCol="0" anchor="ctr"/>
          <a:lstStyle/>
          <a:p>
            <a:pPr marL="0" indent="0" algn="ctr">
              <a:buNone/>
            </a:pPr>
            <a:r>
              <a:rPr lang="en-US" sz="1200" dirty="0">
                <a:solidFill>
                  <a:srgbClr val="0ABAB5"/>
                </a:solidFill>
                <a:latin typeface="Consolas" pitchFamily="34" charset="0"/>
                <a:ea typeface="Consolas" pitchFamily="34" charset="-122"/>
                <a:cs typeface="Consolas" pitchFamily="34" charset="-120"/>
              </a:rPr>
              <a:t>127.0.0.1:3845/mcp</a:t>
            </a:r>
            <a:endParaRPr lang="en-US" sz="1200" dirty="0"/>
          </a:p>
        </p:txBody>
      </p:sp>
      <p:sp>
        <p:nvSpPr>
          <p:cNvPr id="17" name="Shape 15"/>
          <p:cNvSpPr/>
          <p:nvPr/>
        </p:nvSpPr>
        <p:spPr>
          <a:xfrm>
            <a:off x="4754880" y="1417320"/>
            <a:ext cx="3840480" cy="26517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Shape 16"/>
          <p:cNvSpPr/>
          <p:nvPr/>
        </p:nvSpPr>
        <p:spPr>
          <a:xfrm>
            <a:off x="4754880" y="1417320"/>
            <a:ext cx="3840480" cy="54864"/>
          </a:xfrm>
          <a:prstGeom prst="rect">
            <a:avLst/>
          </a:prstGeom>
          <a:solidFill>
            <a:srgbClr val="1E3A5F"/>
          </a:solidFill>
          <a:ln/>
        </p:spPr>
        <p:txBody>
          <a:bodyPr/>
          <a:lstStyle/>
          <a:p>
            <a:endParaRPr lang="en-US"/>
          </a:p>
        </p:txBody>
      </p:sp>
      <p:sp>
        <p:nvSpPr>
          <p:cNvPr id="19" name="Shape 17"/>
          <p:cNvSpPr/>
          <p:nvPr/>
        </p:nvSpPr>
        <p:spPr>
          <a:xfrm>
            <a:off x="4983480" y="1572768"/>
            <a:ext cx="438912" cy="438912"/>
          </a:xfrm>
          <a:prstGeom prst="line">
            <a:avLst/>
          </a:prstGeom>
          <a:solidFill>
            <a:srgbClr val="1E3A5F"/>
          </a:solidFill>
          <a:ln/>
        </p:spPr>
        <p:txBody>
          <a:bodyPr/>
          <a:lstStyle/>
          <a:p>
            <a:endParaRPr lang="en-US"/>
          </a:p>
        </p:txBody>
      </p:sp>
      <p:sp>
        <p:nvSpPr>
          <p:cNvPr id="20" name="Text 18"/>
          <p:cNvSpPr/>
          <p:nvPr/>
        </p:nvSpPr>
        <p:spPr>
          <a:xfrm>
            <a:off x="4983480" y="157276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21" name="Text 19"/>
          <p:cNvSpPr/>
          <p:nvPr/>
        </p:nvSpPr>
        <p:spPr>
          <a:xfrm>
            <a:off x="5532120" y="1572768"/>
            <a:ext cx="2834640" cy="438912"/>
          </a:xfrm>
          <a:prstGeom prst="rect">
            <a:avLst/>
          </a:prstGeom>
          <a:noFill/>
          <a:ln/>
        </p:spPr>
        <p:txBody>
          <a:bodyPr wrap="square" lIns="0" tIns="0" rIns="0" bIns="0" rtlCol="0" anchor="ctr"/>
          <a:lstStyle/>
          <a:p>
            <a:pPr marL="0" indent="0">
              <a:buNone/>
            </a:pPr>
            <a:r>
              <a:rPr lang="en-US" sz="1500" b="1" dirty="0">
                <a:solidFill>
                  <a:srgbClr val="1E3A5F"/>
                </a:solidFill>
                <a:latin typeface="Calibri" pitchFamily="34" charset="0"/>
                <a:ea typeface="Calibri" pitchFamily="34" charset="-122"/>
                <a:cs typeface="Calibri" pitchFamily="34" charset="-120"/>
              </a:rPr>
              <a:t>Step Two (Claude Code)</a:t>
            </a:r>
            <a:endParaRPr lang="en-US" sz="1500" dirty="0"/>
          </a:p>
        </p:txBody>
      </p:sp>
      <p:sp>
        <p:nvSpPr>
          <p:cNvPr id="22" name="Shape 20"/>
          <p:cNvSpPr/>
          <p:nvPr/>
        </p:nvSpPr>
        <p:spPr>
          <a:xfrm>
            <a:off x="4983480" y="2148840"/>
            <a:ext cx="384048" cy="384048"/>
          </a:xfrm>
          <a:prstGeom prst="line">
            <a:avLst/>
          </a:prstGeom>
          <a:solidFill>
            <a:srgbClr val="1E3A5F"/>
          </a:solidFill>
          <a:ln/>
        </p:spPr>
        <p:txBody>
          <a:bodyPr/>
          <a:lstStyle/>
          <a:p>
            <a:endParaRPr lang="en-US"/>
          </a:p>
        </p:txBody>
      </p:sp>
      <p:sp>
        <p:nvSpPr>
          <p:cNvPr id="23" name="Text 21"/>
          <p:cNvSpPr/>
          <p:nvPr/>
        </p:nvSpPr>
        <p:spPr>
          <a:xfrm>
            <a:off x="4983480" y="21488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2"/>
          <p:cNvSpPr/>
          <p:nvPr/>
        </p:nvSpPr>
        <p:spPr>
          <a:xfrm>
            <a:off x="5486400" y="2148840"/>
            <a:ext cx="2926080" cy="365760"/>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"Implement the selected frame"</a:t>
            </a:r>
            <a:endParaRPr lang="en-US" sz="1200" dirty="0"/>
          </a:p>
        </p:txBody>
      </p:sp>
      <p:sp>
        <p:nvSpPr>
          <p:cNvPr id="25" name="Shape 23"/>
          <p:cNvSpPr/>
          <p:nvPr/>
        </p:nvSpPr>
        <p:spPr>
          <a:xfrm>
            <a:off x="4983480" y="2651760"/>
            <a:ext cx="384048" cy="384048"/>
          </a:xfrm>
          <a:prstGeom prst="line">
            <a:avLst/>
          </a:prstGeom>
          <a:solidFill>
            <a:srgbClr val="1E3A5F"/>
          </a:solidFill>
          <a:ln/>
        </p:spPr>
        <p:txBody>
          <a:bodyPr/>
          <a:lstStyle/>
          <a:p>
            <a:endParaRPr lang="en-US"/>
          </a:p>
        </p:txBody>
      </p:sp>
      <p:sp>
        <p:nvSpPr>
          <p:cNvPr id="26" name="Text 24"/>
          <p:cNvSpPr/>
          <p:nvPr/>
        </p:nvSpPr>
        <p:spPr>
          <a:xfrm>
            <a:off x="4983480" y="2651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7" name="Text 25"/>
          <p:cNvSpPr/>
          <p:nvPr/>
        </p:nvSpPr>
        <p:spPr>
          <a:xfrm>
            <a:off x="5486400" y="2651760"/>
            <a:ext cx="2926080" cy="365760"/>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Claude reads via get_design_context</a:t>
            </a:r>
            <a:endParaRPr lang="en-US" sz="1200" dirty="0"/>
          </a:p>
        </p:txBody>
      </p:sp>
      <p:sp>
        <p:nvSpPr>
          <p:cNvPr id="28" name="Shape 26"/>
          <p:cNvSpPr/>
          <p:nvPr/>
        </p:nvSpPr>
        <p:spPr>
          <a:xfrm>
            <a:off x="4983480" y="3154680"/>
            <a:ext cx="384048" cy="384048"/>
          </a:xfrm>
          <a:prstGeom prst="line">
            <a:avLst/>
          </a:prstGeom>
          <a:solidFill>
            <a:srgbClr val="1E3A5F"/>
          </a:solidFill>
          <a:ln/>
        </p:spPr>
        <p:txBody>
          <a:bodyPr/>
          <a:lstStyle/>
          <a:p>
            <a:endParaRPr lang="en-US"/>
          </a:p>
        </p:txBody>
      </p:sp>
      <p:sp>
        <p:nvSpPr>
          <p:cNvPr id="29" name="Text 27"/>
          <p:cNvSpPr/>
          <p:nvPr/>
        </p:nvSpPr>
        <p:spPr>
          <a:xfrm>
            <a:off x="4983480" y="3154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p:nvPr/>
        </p:nvSpPr>
        <p:spPr>
          <a:xfrm>
            <a:off x="5486400" y="3154680"/>
            <a:ext cx="2926080" cy="365760"/>
          </a:xfrm>
          <a:prstGeom prst="rect">
            <a:avLst/>
          </a:prstGeom>
          <a:noFill/>
          <a:ln/>
        </p:spPr>
        <p:txBody>
          <a:bodyPr wrap="square" lIns="0" tIns="0" rIns="0" bIns="0" rtlCol="0" anchor="ctr"/>
          <a:lstStyle/>
          <a:p>
            <a:pPr marL="0" indent="0">
              <a:buNone/>
            </a:pPr>
            <a:r>
              <a:rPr lang="en-US" sz="1200" dirty="0">
                <a:solidFill>
                  <a:srgbClr val="3B4F68"/>
                </a:solidFill>
                <a:latin typeface="Calibri" pitchFamily="34" charset="0"/>
                <a:ea typeface="Calibri" pitchFamily="34" charset="-122"/>
                <a:cs typeface="Calibri" pitchFamily="34" charset="-120"/>
              </a:rPr>
              <a:t>Generates code matching your tech stack</a:t>
            </a:r>
            <a:endParaRPr lang="en-US" sz="1200" dirty="0"/>
          </a:p>
        </p:txBody>
      </p:sp>
      <p:sp>
        <p:nvSpPr>
          <p:cNvPr id="31" name="Shape 29"/>
          <p:cNvSpPr/>
          <p:nvPr/>
        </p:nvSpPr>
        <p:spPr>
          <a:xfrm>
            <a:off x="0" y="4434840"/>
            <a:ext cx="9144000" cy="713232"/>
          </a:xfrm>
          <a:prstGeom prst="rect">
            <a:avLst/>
          </a:prstGeom>
          <a:solidFill>
            <a:srgbClr val="1E3A5F"/>
          </a:solidFill>
          <a:ln/>
        </p:spPr>
        <p:txBody>
          <a:bodyPr/>
          <a:lstStyle/>
          <a:p>
            <a:endParaRPr lang="en-US"/>
          </a:p>
        </p:txBody>
      </p:sp>
      <p:sp>
        <p:nvSpPr>
          <p:cNvPr id="32" name="Text 30"/>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No URL copying. No "which version?" conversations. Real-time design-to-code.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Code to Canvas</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From production code to editable Figma frames</a:t>
            </a:r>
            <a:endParaRPr lang="en-US" sz="1500" dirty="0"/>
          </a:p>
        </p:txBody>
      </p:sp>
      <p:sp>
        <p:nvSpPr>
          <p:cNvPr id="5" name="Shape 3"/>
          <p:cNvSpPr/>
          <p:nvPr/>
        </p:nvSpPr>
        <p:spPr>
          <a:xfrm>
            <a:off x="548640" y="1417320"/>
            <a:ext cx="237744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54864" cy="1463040"/>
          </a:xfrm>
          <a:prstGeom prst="rect">
            <a:avLst/>
          </a:prstGeom>
          <a:solidFill>
            <a:srgbClr val="1E3A5F"/>
          </a:solidFill>
          <a:ln/>
        </p:spPr>
        <p:txBody>
          <a:bodyPr/>
          <a:lstStyle/>
          <a:p>
            <a:endParaRPr lang="en-US"/>
          </a:p>
        </p:txBody>
      </p:sp>
      <p:sp>
        <p:nvSpPr>
          <p:cNvPr id="7" name="Shape 5"/>
          <p:cNvSpPr/>
          <p:nvPr/>
        </p:nvSpPr>
        <p:spPr>
          <a:xfrm>
            <a:off x="777240" y="1600200"/>
            <a:ext cx="438912" cy="438912"/>
          </a:xfrm>
          <a:prstGeom prst="line">
            <a:avLst/>
          </a:prstGeom>
          <a:solidFill>
            <a:srgbClr val="1E3A5F"/>
          </a:solidFill>
          <a:ln/>
        </p:spPr>
        <p:txBody>
          <a:bodyPr/>
          <a:lstStyle/>
          <a:p>
            <a:endParaRPr lang="en-US"/>
          </a:p>
        </p:txBody>
      </p:sp>
      <p:sp>
        <p:nvSpPr>
          <p:cNvPr id="8" name="Text 6"/>
          <p:cNvSpPr/>
          <p:nvPr/>
        </p:nvSpPr>
        <p:spPr>
          <a:xfrm>
            <a:off x="777240" y="160020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25880" y="1600200"/>
            <a:ext cx="1371600" cy="43891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Claude Code</a:t>
            </a:r>
            <a:endParaRPr lang="en-US" sz="1400" dirty="0"/>
          </a:p>
        </p:txBody>
      </p:sp>
      <p:sp>
        <p:nvSpPr>
          <p:cNvPr id="10" name="Text 8"/>
          <p:cNvSpPr/>
          <p:nvPr/>
        </p:nvSpPr>
        <p:spPr>
          <a:xfrm>
            <a:off x="777240" y="2148840"/>
            <a:ext cx="1920240" cy="59436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Build a UI with React,</a:t>
            </a:r>
            <a:endParaRPr lang="en-US" sz="1100" dirty="0"/>
          </a:p>
          <a:p>
            <a:pPr marL="0" indent="0">
              <a:buNone/>
            </a:pPr>
            <a:r>
              <a:rPr lang="en-US" sz="1100" dirty="0">
                <a:solidFill>
                  <a:srgbClr val="3B4F68"/>
                </a:solidFill>
                <a:latin typeface="Calibri" pitchFamily="34" charset="0"/>
                <a:ea typeface="Calibri" pitchFamily="34" charset="-122"/>
                <a:cs typeface="Calibri" pitchFamily="34" charset="-120"/>
              </a:rPr>
              <a:t>HTML/CSS, or any framework</a:t>
            </a:r>
            <a:endParaRPr lang="en-US" sz="1100" dirty="0"/>
          </a:p>
        </p:txBody>
      </p:sp>
      <p:sp>
        <p:nvSpPr>
          <p:cNvPr id="11" name="Text 9"/>
          <p:cNvSpPr/>
          <p:nvPr/>
        </p:nvSpPr>
        <p:spPr>
          <a:xfrm>
            <a:off x="2913015" y="1965960"/>
            <a:ext cx="365760" cy="365760"/>
          </a:xfrm>
          <a:prstGeom prst="rect">
            <a:avLst/>
          </a:prstGeom>
          <a:noFill/>
          <a:ln/>
        </p:spPr>
        <p:txBody>
          <a:bodyPr wrap="square" lIns="0" tIns="0" rIns="0" bIns="0" rtlCol="0" anchor="ctr"/>
          <a:lstStyle/>
          <a:p>
            <a:pPr marL="0" indent="0" algn="ctr">
              <a:buNone/>
            </a:pPr>
            <a:r>
              <a:rPr lang="en-US" sz="2200" b="1" dirty="0">
                <a:solidFill>
                  <a:srgbClr val="0ABAB5"/>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3246120" y="1417320"/>
            <a:ext cx="237744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1"/>
          <p:cNvSpPr/>
          <p:nvPr/>
        </p:nvSpPr>
        <p:spPr>
          <a:xfrm>
            <a:off x="3246120" y="1417320"/>
            <a:ext cx="54864" cy="1463040"/>
          </a:xfrm>
          <a:prstGeom prst="rect">
            <a:avLst/>
          </a:prstGeom>
          <a:solidFill>
            <a:srgbClr val="0ABAB5"/>
          </a:solidFill>
          <a:ln/>
        </p:spPr>
        <p:txBody>
          <a:bodyPr/>
          <a:lstStyle/>
          <a:p>
            <a:endParaRPr lang="en-US"/>
          </a:p>
        </p:txBody>
      </p:sp>
      <p:sp>
        <p:nvSpPr>
          <p:cNvPr id="14" name="Shape 12"/>
          <p:cNvSpPr/>
          <p:nvPr/>
        </p:nvSpPr>
        <p:spPr>
          <a:xfrm>
            <a:off x="3474720" y="1600200"/>
            <a:ext cx="438912" cy="438912"/>
          </a:xfrm>
          <a:prstGeom prst="line">
            <a:avLst/>
          </a:prstGeom>
          <a:solidFill>
            <a:srgbClr val="0ABAB5"/>
          </a:solidFill>
          <a:ln/>
        </p:spPr>
        <p:txBody>
          <a:bodyPr/>
          <a:lstStyle/>
          <a:p>
            <a:endParaRPr lang="en-US"/>
          </a:p>
        </p:txBody>
      </p:sp>
      <p:sp>
        <p:nvSpPr>
          <p:cNvPr id="15" name="Text 13"/>
          <p:cNvSpPr/>
          <p:nvPr/>
        </p:nvSpPr>
        <p:spPr>
          <a:xfrm>
            <a:off x="3474720" y="160020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4023360" y="1600200"/>
            <a:ext cx="1371600" cy="43891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Browser</a:t>
            </a:r>
            <a:endParaRPr lang="en-US" sz="1400" dirty="0"/>
          </a:p>
        </p:txBody>
      </p:sp>
      <p:sp>
        <p:nvSpPr>
          <p:cNvPr id="17" name="Text 15"/>
          <p:cNvSpPr/>
          <p:nvPr/>
        </p:nvSpPr>
        <p:spPr>
          <a:xfrm>
            <a:off x="3474720" y="2148840"/>
            <a:ext cx="1920240" cy="59436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"Send this to Figma"</a:t>
            </a:r>
            <a:endParaRPr lang="en-US" sz="1100" dirty="0"/>
          </a:p>
          <a:p>
            <a:pPr marL="0" indent="0">
              <a:buNone/>
            </a:pPr>
            <a:r>
              <a:rPr lang="en-US" sz="1100" dirty="0">
                <a:solidFill>
                  <a:srgbClr val="3B4F68"/>
                </a:solidFill>
                <a:latin typeface="Calibri" pitchFamily="34" charset="0"/>
                <a:ea typeface="Calibri" pitchFamily="34" charset="-122"/>
                <a:cs typeface="Calibri" pitchFamily="34" charset="-120"/>
              </a:rPr>
              <a:t>Browser state is captured</a:t>
            </a:r>
            <a:endParaRPr lang="en-US" sz="1100" dirty="0"/>
          </a:p>
        </p:txBody>
      </p:sp>
      <p:sp>
        <p:nvSpPr>
          <p:cNvPr id="18" name="Text 16"/>
          <p:cNvSpPr/>
          <p:nvPr/>
        </p:nvSpPr>
        <p:spPr>
          <a:xfrm>
            <a:off x="5601795" y="1965960"/>
            <a:ext cx="365760" cy="365760"/>
          </a:xfrm>
          <a:prstGeom prst="rect">
            <a:avLst/>
          </a:prstGeom>
          <a:noFill/>
          <a:ln/>
        </p:spPr>
        <p:txBody>
          <a:bodyPr wrap="square" lIns="0" tIns="0" rIns="0" bIns="0" rtlCol="0" anchor="ctr"/>
          <a:lstStyle/>
          <a:p>
            <a:pPr marL="0" indent="0" algn="ctr">
              <a:buNone/>
            </a:pPr>
            <a:r>
              <a:rPr lang="en-US" sz="2200" b="1" dirty="0">
                <a:solidFill>
                  <a:srgbClr val="0ABAB5"/>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5943600" y="1417320"/>
            <a:ext cx="237744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0" name="Shape 18"/>
          <p:cNvSpPr/>
          <p:nvPr/>
        </p:nvSpPr>
        <p:spPr>
          <a:xfrm>
            <a:off x="5943600" y="1417320"/>
            <a:ext cx="54864" cy="1463040"/>
          </a:xfrm>
          <a:prstGeom prst="rect">
            <a:avLst/>
          </a:prstGeom>
          <a:solidFill>
            <a:srgbClr val="F39C12"/>
          </a:solidFill>
          <a:ln/>
        </p:spPr>
        <p:txBody>
          <a:bodyPr/>
          <a:lstStyle/>
          <a:p>
            <a:endParaRPr lang="en-US"/>
          </a:p>
        </p:txBody>
      </p:sp>
      <p:sp>
        <p:nvSpPr>
          <p:cNvPr id="21" name="Shape 19"/>
          <p:cNvSpPr/>
          <p:nvPr/>
        </p:nvSpPr>
        <p:spPr>
          <a:xfrm>
            <a:off x="6172200" y="1600200"/>
            <a:ext cx="438912" cy="438912"/>
          </a:xfrm>
          <a:prstGeom prst="line">
            <a:avLst/>
          </a:prstGeom>
          <a:solidFill>
            <a:srgbClr val="F39C12"/>
          </a:solidFill>
          <a:ln/>
        </p:spPr>
        <p:txBody>
          <a:bodyPr/>
          <a:lstStyle/>
          <a:p>
            <a:endParaRPr lang="en-US"/>
          </a:p>
        </p:txBody>
      </p:sp>
      <p:sp>
        <p:nvSpPr>
          <p:cNvPr id="22" name="Text 20"/>
          <p:cNvSpPr/>
          <p:nvPr/>
        </p:nvSpPr>
        <p:spPr>
          <a:xfrm>
            <a:off x="6172200" y="160020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6720840" y="1600200"/>
            <a:ext cx="1371600" cy="43891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Figma</a:t>
            </a:r>
            <a:endParaRPr lang="en-US" sz="1400" dirty="0"/>
          </a:p>
        </p:txBody>
      </p:sp>
      <p:sp>
        <p:nvSpPr>
          <p:cNvPr id="24" name="Text 22"/>
          <p:cNvSpPr/>
          <p:nvPr/>
        </p:nvSpPr>
        <p:spPr>
          <a:xfrm>
            <a:off x="6172200" y="2148840"/>
            <a:ext cx="1920240" cy="59436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Editable frames with real</a:t>
            </a:r>
            <a:endParaRPr lang="en-US" sz="1100" dirty="0"/>
          </a:p>
          <a:p>
            <a:pPr marL="0" indent="0">
              <a:buNone/>
            </a:pPr>
            <a:r>
              <a:rPr lang="en-US" sz="1100" dirty="0">
                <a:solidFill>
                  <a:srgbClr val="3B4F68"/>
                </a:solidFill>
                <a:latin typeface="Calibri" pitchFamily="34" charset="0"/>
                <a:ea typeface="Calibri" pitchFamily="34" charset="-122"/>
                <a:cs typeface="Calibri" pitchFamily="34" charset="-120"/>
              </a:rPr>
              <a:t>layers, text, and colors</a:t>
            </a:r>
            <a:endParaRPr lang="en-US" sz="1100" dirty="0"/>
          </a:p>
        </p:txBody>
      </p:sp>
      <p:sp>
        <p:nvSpPr>
          <p:cNvPr id="25" name="Shape 23"/>
          <p:cNvSpPr/>
          <p:nvPr/>
        </p:nvSpPr>
        <p:spPr>
          <a:xfrm>
            <a:off x="548640" y="3108960"/>
            <a:ext cx="3840480" cy="1143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6" name="Shape 24"/>
          <p:cNvSpPr/>
          <p:nvPr/>
        </p:nvSpPr>
        <p:spPr>
          <a:xfrm>
            <a:off x="548640" y="3108960"/>
            <a:ext cx="54864" cy="1143000"/>
          </a:xfrm>
          <a:prstGeom prst="rect">
            <a:avLst/>
          </a:prstGeom>
          <a:solidFill>
            <a:srgbClr val="27AE60"/>
          </a:solidFill>
          <a:ln/>
        </p:spPr>
        <p:txBody>
          <a:bodyPr/>
          <a:lstStyle/>
          <a:p>
            <a:endParaRPr lang="en-US"/>
          </a:p>
        </p:txBody>
      </p:sp>
      <p:sp>
        <p:nvSpPr>
          <p:cNvPr id="27" name="Text 25"/>
          <p:cNvSpPr/>
          <p:nvPr/>
        </p:nvSpPr>
        <p:spPr>
          <a:xfrm>
            <a:off x="777240" y="3163824"/>
            <a:ext cx="3383280" cy="256032"/>
          </a:xfrm>
          <a:prstGeom prst="rect">
            <a:avLst/>
          </a:prstGeom>
          <a:noFill/>
          <a:ln/>
        </p:spPr>
        <p:txBody>
          <a:bodyPr wrap="square" lIns="0" tIns="0" rIns="0" bIns="0" rtlCol="0" anchor="ctr"/>
          <a:lstStyle/>
          <a:p>
            <a:pPr marL="0" indent="0">
              <a:buNone/>
            </a:pPr>
            <a:r>
              <a:rPr lang="en-US" sz="1300" b="1" dirty="0">
                <a:solidFill>
                  <a:srgbClr val="27AE60"/>
                </a:solidFill>
                <a:latin typeface="Calibri" pitchFamily="34" charset="0"/>
                <a:ea typeface="Calibri" pitchFamily="34" charset="-122"/>
                <a:cs typeface="Calibri" pitchFamily="34" charset="-120"/>
              </a:rPr>
              <a:t>Preserved</a:t>
            </a:r>
            <a:endParaRPr lang="en-US" sz="1300" dirty="0"/>
          </a:p>
        </p:txBody>
      </p:sp>
      <p:sp>
        <p:nvSpPr>
          <p:cNvPr id="28" name="Text 26"/>
          <p:cNvSpPr/>
          <p:nvPr/>
        </p:nvSpPr>
        <p:spPr>
          <a:xfrm>
            <a:off x="777240" y="3429000"/>
            <a:ext cx="3383280" cy="777240"/>
          </a:xfrm>
          <a:prstGeom prst="rect">
            <a:avLst/>
          </a:prstGeom>
          <a:noFill/>
          <a:ln/>
        </p:spPr>
        <p:txBody>
          <a:bodyPr wrap="square" lIns="0" tIns="0" rIns="0" bIns="0" rtlCol="0" anchor="ctr"/>
          <a:lstStyle/>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Layout and positioning</a:t>
            </a:r>
            <a:endParaRPr lang="en-US" sz="1050" dirty="0"/>
          </a:p>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Colors and typography</a:t>
            </a:r>
            <a:endParaRPr lang="en-US" sz="1050" dirty="0"/>
          </a:p>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Text content, borders, shadows</a:t>
            </a:r>
            <a:endParaRPr lang="en-US" sz="1050" dirty="0"/>
          </a:p>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Component structure (as layers)</a:t>
            </a:r>
            <a:endParaRPr lang="en-US" sz="1050" dirty="0"/>
          </a:p>
        </p:txBody>
      </p:sp>
      <p:sp>
        <p:nvSpPr>
          <p:cNvPr id="29" name="Shape 27"/>
          <p:cNvSpPr/>
          <p:nvPr/>
        </p:nvSpPr>
        <p:spPr>
          <a:xfrm>
            <a:off x="4754880" y="3108960"/>
            <a:ext cx="3840480" cy="1143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0" name="Shape 28"/>
          <p:cNvSpPr/>
          <p:nvPr/>
        </p:nvSpPr>
        <p:spPr>
          <a:xfrm>
            <a:off x="4754880" y="3108960"/>
            <a:ext cx="54864" cy="1143000"/>
          </a:xfrm>
          <a:prstGeom prst="rect">
            <a:avLst/>
          </a:prstGeom>
          <a:solidFill>
            <a:srgbClr val="E74C3C"/>
          </a:solidFill>
          <a:ln/>
        </p:spPr>
        <p:txBody>
          <a:bodyPr/>
          <a:lstStyle/>
          <a:p>
            <a:endParaRPr lang="en-US"/>
          </a:p>
        </p:txBody>
      </p:sp>
      <p:sp>
        <p:nvSpPr>
          <p:cNvPr id="31" name="Text 29"/>
          <p:cNvSpPr/>
          <p:nvPr/>
        </p:nvSpPr>
        <p:spPr>
          <a:xfrm>
            <a:off x="4983480" y="3163824"/>
            <a:ext cx="3383280" cy="256032"/>
          </a:xfrm>
          <a:prstGeom prst="rect">
            <a:avLst/>
          </a:prstGeom>
          <a:noFill/>
          <a:ln/>
        </p:spPr>
        <p:txBody>
          <a:bodyPr wrap="square" lIns="0" tIns="0" rIns="0" bIns="0"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Lost (static frames)</a:t>
            </a:r>
            <a:endParaRPr lang="en-US" sz="1300" dirty="0"/>
          </a:p>
        </p:txBody>
      </p:sp>
      <p:sp>
        <p:nvSpPr>
          <p:cNvPr id="32" name="Text 30"/>
          <p:cNvSpPr/>
          <p:nvPr/>
        </p:nvSpPr>
        <p:spPr>
          <a:xfrm>
            <a:off x="4983480" y="3429000"/>
            <a:ext cx="3383280" cy="777240"/>
          </a:xfrm>
          <a:prstGeom prst="rect">
            <a:avLst/>
          </a:prstGeom>
          <a:noFill/>
          <a:ln/>
        </p:spPr>
        <p:txBody>
          <a:bodyPr wrap="square" lIns="0" tIns="0" rIns="0" bIns="0" rtlCol="0" anchor="ctr"/>
          <a:lstStyle/>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Event handlers, state management</a:t>
            </a:r>
            <a:endParaRPr lang="en-US" sz="1050" dirty="0"/>
          </a:p>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API calls and data fetching</a:t>
            </a:r>
            <a:endParaRPr lang="en-US" sz="1050" dirty="0"/>
          </a:p>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Animation and transitions</a:t>
            </a:r>
            <a:endParaRPr lang="en-US" sz="1050" dirty="0"/>
          </a:p>
          <a:p>
            <a:pPr marL="342900" indent="-342900">
              <a:buSzPct val="100000"/>
              <a:buChar char="•"/>
            </a:pPr>
            <a:r>
              <a:rPr lang="en-US" sz="1050" dirty="0">
                <a:solidFill>
                  <a:srgbClr val="3B4F68"/>
                </a:solidFill>
                <a:latin typeface="Calibri" pitchFamily="34" charset="0"/>
                <a:ea typeface="Calibri" pitchFamily="34" charset="-122"/>
                <a:cs typeface="Calibri" pitchFamily="34" charset="-120"/>
              </a:rPr>
              <a:t>Business logic</a:t>
            </a:r>
            <a:endParaRPr lang="en-US" sz="1050" dirty="0"/>
          </a:p>
        </p:txBody>
      </p:sp>
      <p:sp>
        <p:nvSpPr>
          <p:cNvPr id="33" name="Shape 31"/>
          <p:cNvSpPr/>
          <p:nvPr/>
        </p:nvSpPr>
        <p:spPr>
          <a:xfrm>
            <a:off x="0" y="4434840"/>
            <a:ext cx="9144000" cy="713232"/>
          </a:xfrm>
          <a:prstGeom prst="rect">
            <a:avLst/>
          </a:prstGeom>
          <a:solidFill>
            <a:srgbClr val="1E3A5F"/>
          </a:solidFill>
          <a:ln/>
        </p:spPr>
        <p:txBody>
          <a:bodyPr/>
          <a:lstStyle/>
          <a:p>
            <a:endParaRPr lang="en-US"/>
          </a:p>
        </p:txBody>
      </p:sp>
      <p:sp>
        <p:nvSpPr>
          <p:cNvPr id="34" name="Text 32"/>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Code to Canvas is for exploration and design review — not maintaining a 1:1 sync.</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lgn="l">
              <a:buNone/>
            </a:pPr>
            <a:r>
              <a:rPr lang="en-US" sz="3400" b="1" dirty="0">
                <a:solidFill>
                  <a:srgbClr val="1E3A5F"/>
                </a:solidFill>
                <a:latin typeface="Arial" pitchFamily="34" charset="0"/>
                <a:ea typeface="Arial" pitchFamily="34" charset="-122"/>
                <a:cs typeface="Arial" pitchFamily="34" charset="-120"/>
              </a:rPr>
              <a:t>The Full MCP Toolset</a:t>
            </a:r>
            <a:endParaRPr lang="en-US" sz="3400" dirty="0"/>
          </a:p>
        </p:txBody>
      </p:sp>
      <p:sp>
        <p:nvSpPr>
          <p:cNvPr id="4" name="Text 2"/>
          <p:cNvSpPr/>
          <p:nvPr/>
        </p:nvSpPr>
        <p:spPr>
          <a:xfrm>
            <a:off x="548640" y="713232"/>
            <a:ext cx="8046720" cy="274320"/>
          </a:xfrm>
          <a:prstGeom prst="rect">
            <a:avLst/>
          </a:prstGeom>
          <a:noFill/>
          <a:ln/>
        </p:spPr>
        <p:txBody>
          <a:bodyPr wrap="square" lIns="0" tIns="0" rIns="0" bIns="0" rtlCol="0" anchor="ctr"/>
          <a:lstStyle/>
          <a:p>
            <a:pPr marL="0" indent="0" algn="l">
              <a:buNone/>
            </a:pPr>
            <a:r>
              <a:rPr lang="en-US" sz="1400" i="1" dirty="0">
                <a:solidFill>
                  <a:srgbClr val="0ABAB5"/>
                </a:solidFill>
                <a:latin typeface="Calibri" pitchFamily="34" charset="0"/>
                <a:ea typeface="Calibri" pitchFamily="34" charset="-122"/>
                <a:cs typeface="Calibri" pitchFamily="34" charset="-120"/>
              </a:rPr>
              <a:t>12 core tools + generate_figma_design, organized by audience</a:t>
            </a:r>
            <a:endParaRPr lang="en-US" sz="1400" dirty="0"/>
          </a:p>
        </p:txBody>
      </p:sp>
      <p:sp>
        <p:nvSpPr>
          <p:cNvPr id="5" name="Shape 3"/>
          <p:cNvSpPr/>
          <p:nvPr/>
        </p:nvSpPr>
        <p:spPr>
          <a:xfrm>
            <a:off x="548640" y="988430"/>
            <a:ext cx="54864" cy="274320"/>
          </a:xfrm>
          <a:prstGeom prst="rect">
            <a:avLst/>
          </a:prstGeom>
          <a:solidFill>
            <a:srgbClr val="0ABAB5"/>
          </a:solidFill>
          <a:ln/>
        </p:spPr>
        <p:txBody>
          <a:bodyPr/>
          <a:lstStyle/>
          <a:p>
            <a:endParaRPr lang="en-US"/>
          </a:p>
        </p:txBody>
      </p:sp>
      <p:sp>
        <p:nvSpPr>
          <p:cNvPr id="6" name="Text 4"/>
          <p:cNvSpPr/>
          <p:nvPr/>
        </p:nvSpPr>
        <p:spPr>
          <a:xfrm>
            <a:off x="731520" y="988430"/>
            <a:ext cx="3657600" cy="27432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Developer-Focused (7 tools)</a:t>
            </a:r>
            <a:endParaRPr lang="en-US" sz="1300" dirty="0"/>
          </a:p>
        </p:txBody>
      </p:sp>
      <p:sp>
        <p:nvSpPr>
          <p:cNvPr id="7" name="Text 5"/>
          <p:cNvSpPr/>
          <p:nvPr/>
        </p:nvSpPr>
        <p:spPr>
          <a:xfrm>
            <a:off x="731520" y="1235312"/>
            <a:ext cx="2103120" cy="329184"/>
          </a:xfrm>
          <a:prstGeom prst="rect">
            <a:avLst/>
          </a:prstGeom>
          <a:noFill/>
          <a:ln>
            <a:solidFill>
              <a:schemeClr val="tx1"/>
            </a:solidFill>
          </a:ln>
        </p:spPr>
        <p:txBody>
          <a:bodyPr wrap="square" lIns="0" tIns="0" rIns="0" bIns="0" rtlCol="0" anchor="ctr"/>
          <a:lstStyle/>
          <a:p>
            <a:pPr marL="0" indent="0">
              <a:buNone/>
            </a:pPr>
            <a:r>
              <a:rPr lang="en-US" sz="950" dirty="0">
                <a:solidFill>
                  <a:srgbClr val="0ABAB5"/>
                </a:solidFill>
                <a:latin typeface="Consolas" pitchFamily="34" charset="0"/>
                <a:ea typeface="Consolas" pitchFamily="34" charset="-122"/>
                <a:cs typeface="Consolas" pitchFamily="34" charset="-120"/>
              </a:rPr>
              <a:t> </a:t>
            </a:r>
            <a:r>
              <a:rPr lang="en-US" sz="950" dirty="0" err="1">
                <a:solidFill>
                  <a:srgbClr val="0ABAB5"/>
                </a:solidFill>
                <a:latin typeface="Consolas" pitchFamily="34" charset="0"/>
                <a:ea typeface="Consolas" pitchFamily="34" charset="-122"/>
                <a:cs typeface="Consolas" pitchFamily="34" charset="-120"/>
              </a:rPr>
              <a:t>get_design_context</a:t>
            </a:r>
            <a:endParaRPr lang="en-US" sz="950" dirty="0"/>
          </a:p>
        </p:txBody>
      </p:sp>
      <p:sp>
        <p:nvSpPr>
          <p:cNvPr id="8" name="Text 6"/>
          <p:cNvSpPr/>
          <p:nvPr/>
        </p:nvSpPr>
        <p:spPr>
          <a:xfrm>
            <a:off x="2834640" y="1235312"/>
            <a:ext cx="2468880" cy="329184"/>
          </a:xfrm>
          <a:prstGeom prst="rect">
            <a:avLst/>
          </a:prstGeom>
          <a:noFill/>
          <a:ln>
            <a:solidFill>
              <a:schemeClr val="tx1"/>
            </a:solidFill>
          </a:ln>
        </p:spPr>
        <p:txBody>
          <a:bodyPr wrap="square" lIns="0" tIns="0" rIns="0" bIns="0" rtlCol="0" anchor="ctr"/>
          <a:lstStyle/>
          <a:p>
            <a:pPr marL="0" indent="0" algn="ctr">
              <a:buNone/>
            </a:pPr>
            <a:r>
              <a:rPr lang="en-US" sz="800" dirty="0">
                <a:solidFill>
                  <a:srgbClr val="3B4F68"/>
                </a:solidFill>
                <a:latin typeface="Calibri" pitchFamily="34" charset="0"/>
                <a:ea typeface="Calibri" pitchFamily="34" charset="-122"/>
                <a:cs typeface="Calibri" pitchFamily="34" charset="-120"/>
              </a:rPr>
              <a:t> </a:t>
            </a:r>
            <a:r>
              <a:rPr lang="en-US" sz="900" dirty="0">
                <a:solidFill>
                  <a:srgbClr val="3B4F68"/>
                </a:solidFill>
                <a:latin typeface="Calibri" pitchFamily="34" charset="0"/>
                <a:ea typeface="Calibri" pitchFamily="34" charset="-122"/>
                <a:cs typeface="Calibri" pitchFamily="34" charset="-120"/>
              </a:rPr>
              <a:t>Styled code from Figma frames</a:t>
            </a:r>
            <a:br>
              <a:rPr lang="en-US" sz="900" dirty="0">
                <a:solidFill>
                  <a:srgbClr val="3B4F68"/>
                </a:solidFill>
                <a:latin typeface="Calibri" pitchFamily="34" charset="0"/>
                <a:ea typeface="Calibri" pitchFamily="34" charset="-122"/>
                <a:cs typeface="Calibri" pitchFamily="34" charset="-120"/>
              </a:rPr>
            </a:br>
            <a:r>
              <a:rPr lang="en-US" sz="900" dirty="0">
                <a:solidFill>
                  <a:srgbClr val="3B4F68"/>
                </a:solidFill>
                <a:latin typeface="Calibri" pitchFamily="34" charset="0"/>
                <a:ea typeface="Calibri" pitchFamily="34" charset="-122"/>
                <a:cs typeface="Calibri" pitchFamily="34" charset="-120"/>
              </a:rPr>
              <a:t>(React + Tailwind default)</a:t>
            </a:r>
            <a:endParaRPr lang="en-US" sz="800" dirty="0"/>
          </a:p>
        </p:txBody>
      </p:sp>
      <p:sp>
        <p:nvSpPr>
          <p:cNvPr id="9" name="Text 7"/>
          <p:cNvSpPr/>
          <p:nvPr/>
        </p:nvSpPr>
        <p:spPr>
          <a:xfrm>
            <a:off x="731520" y="1604554"/>
            <a:ext cx="2103120" cy="292608"/>
          </a:xfrm>
          <a:prstGeom prst="rect">
            <a:avLst/>
          </a:prstGeom>
          <a:noFill/>
          <a:ln>
            <a:solidFill>
              <a:schemeClr val="tx1"/>
            </a:solidFill>
          </a:ln>
        </p:spPr>
        <p:txBody>
          <a:bodyPr wrap="square" lIns="0" tIns="0" rIns="0" bIns="0" rtlCol="0" anchor="ctr"/>
          <a:lstStyle/>
          <a:p>
            <a:pPr marL="0" indent="0">
              <a:buNone/>
            </a:pPr>
            <a:r>
              <a:rPr lang="en-US" sz="950" dirty="0">
                <a:solidFill>
                  <a:srgbClr val="0ABAB5"/>
                </a:solidFill>
                <a:latin typeface="Consolas" pitchFamily="34" charset="0"/>
                <a:ea typeface="Consolas" pitchFamily="34" charset="-122"/>
                <a:cs typeface="Consolas" pitchFamily="34" charset="-120"/>
              </a:rPr>
              <a:t> </a:t>
            </a:r>
            <a:r>
              <a:rPr lang="en-US" sz="950" dirty="0" err="1">
                <a:solidFill>
                  <a:srgbClr val="0ABAB5"/>
                </a:solidFill>
                <a:latin typeface="Consolas" pitchFamily="34" charset="0"/>
                <a:ea typeface="Consolas" pitchFamily="34" charset="-122"/>
                <a:cs typeface="Consolas" pitchFamily="34" charset="-120"/>
              </a:rPr>
              <a:t>get_variable_defs</a:t>
            </a:r>
            <a:endParaRPr lang="en-US" sz="950" dirty="0"/>
          </a:p>
        </p:txBody>
      </p:sp>
      <p:sp>
        <p:nvSpPr>
          <p:cNvPr id="10" name="Text 8"/>
          <p:cNvSpPr/>
          <p:nvPr/>
        </p:nvSpPr>
        <p:spPr>
          <a:xfrm>
            <a:off x="2834640" y="1604554"/>
            <a:ext cx="2468880" cy="292608"/>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  Extract design tokens from selected layers</a:t>
            </a:r>
            <a:endParaRPr lang="en-US" sz="950" dirty="0"/>
          </a:p>
        </p:txBody>
      </p:sp>
      <p:sp>
        <p:nvSpPr>
          <p:cNvPr id="11" name="Text 9"/>
          <p:cNvSpPr/>
          <p:nvPr/>
        </p:nvSpPr>
        <p:spPr>
          <a:xfrm>
            <a:off x="731520" y="1934174"/>
            <a:ext cx="2103120" cy="292608"/>
          </a:xfrm>
          <a:prstGeom prst="rect">
            <a:avLst/>
          </a:prstGeom>
          <a:noFill/>
          <a:ln>
            <a:solidFill>
              <a:schemeClr val="tx1"/>
            </a:solidFill>
          </a:ln>
        </p:spPr>
        <p:txBody>
          <a:bodyPr wrap="square" lIns="0" tIns="0" rIns="0" bIns="0" rtlCol="0" anchor="ctr"/>
          <a:lstStyle/>
          <a:p>
            <a:pPr marL="0" indent="0">
              <a:buNone/>
            </a:pPr>
            <a:r>
              <a:rPr lang="en-US" sz="950" dirty="0">
                <a:solidFill>
                  <a:srgbClr val="0ABAB5"/>
                </a:solidFill>
                <a:latin typeface="Consolas" pitchFamily="34" charset="0"/>
                <a:ea typeface="Consolas" pitchFamily="34" charset="-122"/>
                <a:cs typeface="Consolas" pitchFamily="34" charset="-120"/>
              </a:rPr>
              <a:t> </a:t>
            </a:r>
            <a:r>
              <a:rPr lang="en-US" sz="950" dirty="0" err="1">
                <a:solidFill>
                  <a:srgbClr val="0ABAB5"/>
                </a:solidFill>
                <a:latin typeface="Consolas" pitchFamily="34" charset="0"/>
                <a:ea typeface="Consolas" pitchFamily="34" charset="-122"/>
                <a:cs typeface="Consolas" pitchFamily="34" charset="-120"/>
              </a:rPr>
              <a:t>get_code_connect_map</a:t>
            </a:r>
            <a:endParaRPr lang="en-US" sz="950" dirty="0"/>
          </a:p>
        </p:txBody>
      </p:sp>
      <p:sp>
        <p:nvSpPr>
          <p:cNvPr id="12" name="Text 10"/>
          <p:cNvSpPr/>
          <p:nvPr/>
        </p:nvSpPr>
        <p:spPr>
          <a:xfrm>
            <a:off x="2834640" y="1934174"/>
            <a:ext cx="2468880" cy="292608"/>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  Retrieve component-to-code mappings</a:t>
            </a:r>
            <a:endParaRPr lang="en-US" sz="950" dirty="0"/>
          </a:p>
        </p:txBody>
      </p:sp>
      <p:sp>
        <p:nvSpPr>
          <p:cNvPr id="13" name="Text 11"/>
          <p:cNvSpPr/>
          <p:nvPr/>
        </p:nvSpPr>
        <p:spPr>
          <a:xfrm>
            <a:off x="731520" y="2250726"/>
            <a:ext cx="2103120" cy="292608"/>
          </a:xfrm>
          <a:prstGeom prst="rect">
            <a:avLst/>
          </a:prstGeom>
          <a:noFill/>
          <a:ln>
            <a:solidFill>
              <a:schemeClr val="tx1"/>
            </a:solidFill>
          </a:ln>
        </p:spPr>
        <p:txBody>
          <a:bodyPr wrap="square" lIns="0" tIns="0" rIns="0" bIns="0" rtlCol="0" anchor="ctr"/>
          <a:lstStyle/>
          <a:p>
            <a:pPr marL="0" indent="0">
              <a:buNone/>
            </a:pPr>
            <a:r>
              <a:rPr lang="en-US" sz="950" dirty="0">
                <a:solidFill>
                  <a:srgbClr val="0ABAB5"/>
                </a:solidFill>
                <a:latin typeface="Consolas" pitchFamily="34" charset="0"/>
                <a:ea typeface="Consolas" pitchFamily="34" charset="-122"/>
                <a:cs typeface="Consolas" pitchFamily="34" charset="-120"/>
              </a:rPr>
              <a:t> </a:t>
            </a:r>
            <a:r>
              <a:rPr lang="en-US" sz="950" dirty="0" err="1">
                <a:solidFill>
                  <a:srgbClr val="0ABAB5"/>
                </a:solidFill>
                <a:latin typeface="Consolas" pitchFamily="34" charset="0"/>
                <a:ea typeface="Consolas" pitchFamily="34" charset="-122"/>
                <a:cs typeface="Consolas" pitchFamily="34" charset="-120"/>
              </a:rPr>
              <a:t>add_code_connect_map</a:t>
            </a:r>
            <a:endParaRPr lang="en-US" sz="950" dirty="0"/>
          </a:p>
        </p:txBody>
      </p:sp>
      <p:sp>
        <p:nvSpPr>
          <p:cNvPr id="14" name="Text 12"/>
          <p:cNvSpPr/>
          <p:nvPr/>
        </p:nvSpPr>
        <p:spPr>
          <a:xfrm>
            <a:off x="2834640" y="2250726"/>
            <a:ext cx="2468880" cy="292608"/>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  Create new component mappings</a:t>
            </a:r>
            <a:endParaRPr lang="en-US" sz="950" dirty="0"/>
          </a:p>
        </p:txBody>
      </p:sp>
      <p:sp>
        <p:nvSpPr>
          <p:cNvPr id="15" name="Text 13"/>
          <p:cNvSpPr/>
          <p:nvPr/>
        </p:nvSpPr>
        <p:spPr>
          <a:xfrm>
            <a:off x="731520" y="2567279"/>
            <a:ext cx="2103120" cy="292608"/>
          </a:xfrm>
          <a:prstGeom prst="rect">
            <a:avLst/>
          </a:prstGeom>
          <a:noFill/>
          <a:ln>
            <a:solidFill>
              <a:schemeClr val="tx1"/>
            </a:solidFill>
          </a:ln>
        </p:spPr>
        <p:txBody>
          <a:bodyPr wrap="square" lIns="0" tIns="0" rIns="0" bIns="0" rtlCol="0" anchor="ctr"/>
          <a:lstStyle/>
          <a:p>
            <a:pPr marL="0" indent="0">
              <a:buNone/>
            </a:pPr>
            <a:r>
              <a:rPr lang="en-US" sz="950" dirty="0">
                <a:solidFill>
                  <a:srgbClr val="0ABAB5"/>
                </a:solidFill>
                <a:latin typeface="Consolas" pitchFamily="34" charset="0"/>
                <a:ea typeface="Consolas" pitchFamily="34" charset="-122"/>
                <a:cs typeface="Consolas" pitchFamily="34" charset="-120"/>
              </a:rPr>
              <a:t> </a:t>
            </a:r>
            <a:r>
              <a:rPr lang="en-US" sz="950" dirty="0" err="1">
                <a:solidFill>
                  <a:srgbClr val="0ABAB5"/>
                </a:solidFill>
                <a:latin typeface="Consolas" pitchFamily="34" charset="0"/>
                <a:ea typeface="Consolas" pitchFamily="34" charset="-122"/>
                <a:cs typeface="Consolas" pitchFamily="34" charset="-120"/>
              </a:rPr>
              <a:t>get_code_connect_suggestions</a:t>
            </a:r>
            <a:endParaRPr lang="en-US" sz="950" dirty="0"/>
          </a:p>
        </p:txBody>
      </p:sp>
      <p:sp>
        <p:nvSpPr>
          <p:cNvPr id="16" name="Text 14"/>
          <p:cNvSpPr/>
          <p:nvPr/>
        </p:nvSpPr>
        <p:spPr>
          <a:xfrm>
            <a:off x="2834640" y="2567279"/>
            <a:ext cx="2468880" cy="292608"/>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  AI-assisted mapping detection *</a:t>
            </a:r>
            <a:endParaRPr lang="en-US" sz="950" dirty="0"/>
          </a:p>
        </p:txBody>
      </p:sp>
      <p:sp>
        <p:nvSpPr>
          <p:cNvPr id="17" name="Text 15"/>
          <p:cNvSpPr/>
          <p:nvPr/>
        </p:nvSpPr>
        <p:spPr>
          <a:xfrm>
            <a:off x="731520" y="2896897"/>
            <a:ext cx="2103120" cy="292608"/>
          </a:xfrm>
          <a:prstGeom prst="rect">
            <a:avLst/>
          </a:prstGeom>
          <a:noFill/>
          <a:ln>
            <a:solidFill>
              <a:schemeClr val="tx1"/>
            </a:solidFill>
          </a:ln>
        </p:spPr>
        <p:txBody>
          <a:bodyPr wrap="square" lIns="0" tIns="0" rIns="0" bIns="0" rtlCol="0" anchor="ctr"/>
          <a:lstStyle/>
          <a:p>
            <a:pPr marL="0" indent="0">
              <a:buNone/>
            </a:pPr>
            <a:r>
              <a:rPr lang="en-US" sz="950" dirty="0">
                <a:solidFill>
                  <a:srgbClr val="0ABAB5"/>
                </a:solidFill>
                <a:latin typeface="Consolas" pitchFamily="34" charset="0"/>
                <a:ea typeface="Consolas" pitchFamily="34" charset="-122"/>
                <a:cs typeface="Consolas" pitchFamily="34" charset="-120"/>
              </a:rPr>
              <a:t> </a:t>
            </a:r>
            <a:r>
              <a:rPr lang="en-US" sz="950" dirty="0" err="1">
                <a:solidFill>
                  <a:srgbClr val="0ABAB5"/>
                </a:solidFill>
                <a:latin typeface="Consolas" pitchFamily="34" charset="0"/>
                <a:ea typeface="Consolas" pitchFamily="34" charset="-122"/>
                <a:cs typeface="Consolas" pitchFamily="34" charset="-120"/>
              </a:rPr>
              <a:t>send_code_connect_mappings</a:t>
            </a:r>
            <a:endParaRPr lang="en-US" sz="950" dirty="0"/>
          </a:p>
        </p:txBody>
      </p:sp>
      <p:sp>
        <p:nvSpPr>
          <p:cNvPr id="18" name="Text 16"/>
          <p:cNvSpPr/>
          <p:nvPr/>
        </p:nvSpPr>
        <p:spPr>
          <a:xfrm>
            <a:off x="2834640" y="2896897"/>
            <a:ext cx="2468880" cy="292608"/>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  Confirm suggested mappings *</a:t>
            </a:r>
            <a:endParaRPr lang="en-US" sz="950" dirty="0"/>
          </a:p>
        </p:txBody>
      </p:sp>
      <p:sp>
        <p:nvSpPr>
          <p:cNvPr id="19" name="Text 17"/>
          <p:cNvSpPr/>
          <p:nvPr/>
        </p:nvSpPr>
        <p:spPr>
          <a:xfrm>
            <a:off x="731520" y="3213456"/>
            <a:ext cx="2103120" cy="292608"/>
          </a:xfrm>
          <a:prstGeom prst="rect">
            <a:avLst/>
          </a:prstGeom>
          <a:noFill/>
          <a:ln>
            <a:solidFill>
              <a:schemeClr val="tx1"/>
            </a:solidFill>
          </a:ln>
        </p:spPr>
        <p:txBody>
          <a:bodyPr wrap="square" lIns="0" tIns="0" rIns="0" bIns="0" rtlCol="0" anchor="ctr"/>
          <a:lstStyle/>
          <a:p>
            <a:pPr marL="0" indent="0">
              <a:buNone/>
            </a:pPr>
            <a:r>
              <a:rPr lang="en-US" sz="950" dirty="0">
                <a:solidFill>
                  <a:srgbClr val="0ABAB5"/>
                </a:solidFill>
                <a:latin typeface="Consolas" pitchFamily="34" charset="0"/>
                <a:ea typeface="Consolas" pitchFamily="34" charset="-122"/>
                <a:cs typeface="Consolas" pitchFamily="34" charset="-120"/>
              </a:rPr>
              <a:t> </a:t>
            </a:r>
            <a:r>
              <a:rPr lang="en-US" sz="950" dirty="0" err="1">
                <a:solidFill>
                  <a:srgbClr val="0ABAB5"/>
                </a:solidFill>
                <a:latin typeface="Consolas" pitchFamily="34" charset="0"/>
                <a:ea typeface="Consolas" pitchFamily="34" charset="-122"/>
                <a:cs typeface="Consolas" pitchFamily="34" charset="-120"/>
              </a:rPr>
              <a:t>create_design_system_rules</a:t>
            </a:r>
            <a:endParaRPr lang="en-US" sz="950" dirty="0"/>
          </a:p>
        </p:txBody>
      </p:sp>
      <p:sp>
        <p:nvSpPr>
          <p:cNvPr id="20" name="Text 18"/>
          <p:cNvSpPr/>
          <p:nvPr/>
        </p:nvSpPr>
        <p:spPr>
          <a:xfrm>
            <a:off x="2834640" y="3213456"/>
            <a:ext cx="2468880" cy="292608"/>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  Generate rules file from codebase analysis</a:t>
            </a:r>
            <a:endParaRPr lang="en-US" sz="950" dirty="0"/>
          </a:p>
        </p:txBody>
      </p:sp>
      <p:sp>
        <p:nvSpPr>
          <p:cNvPr id="21" name="Shape 19"/>
          <p:cNvSpPr/>
          <p:nvPr/>
        </p:nvSpPr>
        <p:spPr>
          <a:xfrm>
            <a:off x="5486400" y="1097280"/>
            <a:ext cx="54864" cy="274320"/>
          </a:xfrm>
          <a:prstGeom prst="rect">
            <a:avLst/>
          </a:prstGeom>
          <a:solidFill>
            <a:srgbClr val="F39C12"/>
          </a:solidFill>
          <a:ln/>
        </p:spPr>
        <p:txBody>
          <a:bodyPr/>
          <a:lstStyle/>
          <a:p>
            <a:endParaRPr lang="en-US"/>
          </a:p>
        </p:txBody>
      </p:sp>
      <p:sp>
        <p:nvSpPr>
          <p:cNvPr id="22" name="Text 20"/>
          <p:cNvSpPr/>
          <p:nvPr/>
        </p:nvSpPr>
        <p:spPr>
          <a:xfrm>
            <a:off x="5669280" y="1097280"/>
            <a:ext cx="3200400" cy="27432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Designer / PM-Focused (3 tools)</a:t>
            </a:r>
            <a:endParaRPr lang="en-US" sz="1300" dirty="0"/>
          </a:p>
        </p:txBody>
      </p:sp>
      <p:sp>
        <p:nvSpPr>
          <p:cNvPr id="23" name="Text 21"/>
          <p:cNvSpPr/>
          <p:nvPr/>
        </p:nvSpPr>
        <p:spPr>
          <a:xfrm>
            <a:off x="5669280" y="1444752"/>
            <a:ext cx="1598023" cy="228600"/>
          </a:xfrm>
          <a:prstGeom prst="rect">
            <a:avLst/>
          </a:prstGeom>
          <a:noFill/>
          <a:ln>
            <a:solidFill>
              <a:schemeClr val="tx1"/>
            </a:solidFill>
          </a:ln>
        </p:spPr>
        <p:txBody>
          <a:bodyPr wrap="square" lIns="0" tIns="0" rIns="0" bIns="0" rtlCol="0" anchor="ctr"/>
          <a:lstStyle/>
          <a:p>
            <a:pPr marL="0" indent="0">
              <a:buNone/>
            </a:pPr>
            <a:r>
              <a:rPr lang="en-US" sz="950" dirty="0">
                <a:solidFill>
                  <a:srgbClr val="F39C12"/>
                </a:solidFill>
                <a:latin typeface="Consolas" pitchFamily="34" charset="0"/>
                <a:ea typeface="Consolas" pitchFamily="34" charset="-122"/>
                <a:cs typeface="Consolas" pitchFamily="34" charset="-120"/>
              </a:rPr>
              <a:t> </a:t>
            </a:r>
            <a:r>
              <a:rPr lang="en-US" sz="950" dirty="0" err="1">
                <a:solidFill>
                  <a:srgbClr val="F39C12"/>
                </a:solidFill>
                <a:latin typeface="Consolas" pitchFamily="34" charset="0"/>
                <a:ea typeface="Consolas" pitchFamily="34" charset="-122"/>
                <a:cs typeface="Consolas" pitchFamily="34" charset="-120"/>
              </a:rPr>
              <a:t>generate_figma_design</a:t>
            </a:r>
            <a:endParaRPr lang="en-US" sz="950" dirty="0"/>
          </a:p>
        </p:txBody>
      </p:sp>
      <p:sp>
        <p:nvSpPr>
          <p:cNvPr id="24" name="Text 22"/>
          <p:cNvSpPr/>
          <p:nvPr/>
        </p:nvSpPr>
        <p:spPr>
          <a:xfrm>
            <a:off x="7267303" y="1444752"/>
            <a:ext cx="1510937" cy="228600"/>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Code to Canvas</a:t>
            </a:r>
            <a:endParaRPr lang="en-US" sz="950" dirty="0"/>
          </a:p>
        </p:txBody>
      </p:sp>
      <p:sp>
        <p:nvSpPr>
          <p:cNvPr id="25" name="Text 23"/>
          <p:cNvSpPr/>
          <p:nvPr/>
        </p:nvSpPr>
        <p:spPr>
          <a:xfrm>
            <a:off x="5669280" y="1691640"/>
            <a:ext cx="1598023" cy="228600"/>
          </a:xfrm>
          <a:prstGeom prst="rect">
            <a:avLst/>
          </a:prstGeom>
          <a:noFill/>
          <a:ln>
            <a:solidFill>
              <a:schemeClr val="tx1"/>
            </a:solidFill>
          </a:ln>
        </p:spPr>
        <p:txBody>
          <a:bodyPr wrap="square" lIns="0" tIns="0" rIns="0" bIns="0" rtlCol="0" anchor="ctr"/>
          <a:lstStyle/>
          <a:p>
            <a:pPr marL="0" indent="0">
              <a:buNone/>
            </a:pPr>
            <a:r>
              <a:rPr lang="en-US" sz="950" dirty="0">
                <a:solidFill>
                  <a:srgbClr val="F39C12"/>
                </a:solidFill>
                <a:latin typeface="Consolas" pitchFamily="34" charset="0"/>
                <a:ea typeface="Consolas" pitchFamily="34" charset="-122"/>
                <a:cs typeface="Consolas" pitchFamily="34" charset="-120"/>
              </a:rPr>
              <a:t> </a:t>
            </a:r>
            <a:r>
              <a:rPr lang="en-US" sz="950" dirty="0" err="1">
                <a:solidFill>
                  <a:srgbClr val="F39C12"/>
                </a:solidFill>
                <a:latin typeface="Consolas" pitchFamily="34" charset="0"/>
                <a:ea typeface="Consolas" pitchFamily="34" charset="-122"/>
                <a:cs typeface="Consolas" pitchFamily="34" charset="-120"/>
              </a:rPr>
              <a:t>generate_diagram</a:t>
            </a:r>
            <a:endParaRPr lang="en-US" sz="950" dirty="0"/>
          </a:p>
        </p:txBody>
      </p:sp>
      <p:sp>
        <p:nvSpPr>
          <p:cNvPr id="26" name="Text 24"/>
          <p:cNvSpPr/>
          <p:nvPr/>
        </p:nvSpPr>
        <p:spPr>
          <a:xfrm>
            <a:off x="7267303" y="1691640"/>
            <a:ext cx="1510937" cy="228600"/>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Mermaid to </a:t>
            </a:r>
            <a:r>
              <a:rPr lang="en-US" sz="950" dirty="0" err="1">
                <a:solidFill>
                  <a:srgbClr val="3B4F68"/>
                </a:solidFill>
                <a:latin typeface="Calibri" pitchFamily="34" charset="0"/>
                <a:ea typeface="Calibri" pitchFamily="34" charset="-122"/>
                <a:cs typeface="Calibri" pitchFamily="34" charset="-120"/>
              </a:rPr>
              <a:t>Figjam</a:t>
            </a:r>
            <a:endParaRPr lang="en-US" sz="950" dirty="0"/>
          </a:p>
        </p:txBody>
      </p:sp>
      <p:sp>
        <p:nvSpPr>
          <p:cNvPr id="27" name="Text 25"/>
          <p:cNvSpPr/>
          <p:nvPr/>
        </p:nvSpPr>
        <p:spPr>
          <a:xfrm>
            <a:off x="5669280" y="1938528"/>
            <a:ext cx="1598023" cy="228600"/>
          </a:xfrm>
          <a:prstGeom prst="rect">
            <a:avLst/>
          </a:prstGeom>
          <a:noFill/>
          <a:ln>
            <a:solidFill>
              <a:schemeClr val="tx1"/>
            </a:solidFill>
          </a:ln>
        </p:spPr>
        <p:txBody>
          <a:bodyPr wrap="square" lIns="0" tIns="0" rIns="0" bIns="0" rtlCol="0" anchor="ctr"/>
          <a:lstStyle/>
          <a:p>
            <a:pPr marL="0" indent="0">
              <a:buNone/>
            </a:pPr>
            <a:r>
              <a:rPr lang="en-US" sz="950" dirty="0">
                <a:solidFill>
                  <a:srgbClr val="F39C12"/>
                </a:solidFill>
                <a:latin typeface="Consolas" pitchFamily="34" charset="0"/>
                <a:ea typeface="Consolas" pitchFamily="34" charset="-122"/>
                <a:cs typeface="Consolas" pitchFamily="34" charset="-120"/>
              </a:rPr>
              <a:t> </a:t>
            </a:r>
            <a:r>
              <a:rPr lang="en-US" sz="950" dirty="0" err="1">
                <a:solidFill>
                  <a:srgbClr val="F39C12"/>
                </a:solidFill>
                <a:latin typeface="Consolas" pitchFamily="34" charset="0"/>
                <a:ea typeface="Consolas" pitchFamily="34" charset="-122"/>
                <a:cs typeface="Consolas" pitchFamily="34" charset="-120"/>
              </a:rPr>
              <a:t>get_figjam</a:t>
            </a:r>
            <a:endParaRPr lang="en-US" sz="950" dirty="0"/>
          </a:p>
        </p:txBody>
      </p:sp>
      <p:sp>
        <p:nvSpPr>
          <p:cNvPr id="28" name="Text 26"/>
          <p:cNvSpPr/>
          <p:nvPr/>
        </p:nvSpPr>
        <p:spPr>
          <a:xfrm>
            <a:off x="7267303" y="1939623"/>
            <a:ext cx="1510937" cy="228600"/>
          </a:xfrm>
          <a:prstGeom prst="rect">
            <a:avLst/>
          </a:prstGeom>
          <a:noFill/>
          <a:ln>
            <a:solidFill>
              <a:schemeClr val="tx1"/>
            </a:solidFill>
          </a:ln>
        </p:spPr>
        <p:txBody>
          <a:bodyPr wrap="square" lIns="0" tIns="0" rIns="0" bIns="0" rtlCol="0" anchor="ctr"/>
          <a:lstStyle/>
          <a:p>
            <a:pPr marL="0" indent="0" algn="ctr">
              <a:buNone/>
            </a:pPr>
            <a:r>
              <a:rPr lang="en-US" sz="950" dirty="0" err="1">
                <a:solidFill>
                  <a:srgbClr val="3B4F68"/>
                </a:solidFill>
                <a:latin typeface="Calibri" pitchFamily="34" charset="0"/>
                <a:ea typeface="Calibri" pitchFamily="34" charset="-122"/>
                <a:cs typeface="Calibri" pitchFamily="34" charset="-120"/>
              </a:rPr>
              <a:t>FigJam</a:t>
            </a:r>
            <a:r>
              <a:rPr lang="en-US" sz="950" dirty="0">
                <a:solidFill>
                  <a:srgbClr val="3B4F68"/>
                </a:solidFill>
                <a:latin typeface="Calibri" pitchFamily="34" charset="0"/>
                <a:ea typeface="Calibri" pitchFamily="34" charset="-122"/>
                <a:cs typeface="Calibri" pitchFamily="34" charset="-120"/>
              </a:rPr>
              <a:t> to XML</a:t>
            </a:r>
            <a:endParaRPr lang="en-US" sz="950" dirty="0"/>
          </a:p>
        </p:txBody>
      </p:sp>
      <p:sp>
        <p:nvSpPr>
          <p:cNvPr id="29" name="Shape 27"/>
          <p:cNvSpPr/>
          <p:nvPr/>
        </p:nvSpPr>
        <p:spPr>
          <a:xfrm>
            <a:off x="5486400" y="2331720"/>
            <a:ext cx="54864" cy="274320"/>
          </a:xfrm>
          <a:prstGeom prst="rect">
            <a:avLst/>
          </a:prstGeom>
          <a:solidFill>
            <a:srgbClr val="3498DB"/>
          </a:solidFill>
          <a:ln/>
        </p:spPr>
        <p:txBody>
          <a:bodyPr/>
          <a:lstStyle/>
          <a:p>
            <a:endParaRPr lang="en-US"/>
          </a:p>
        </p:txBody>
      </p:sp>
      <p:sp>
        <p:nvSpPr>
          <p:cNvPr id="30" name="Text 28"/>
          <p:cNvSpPr/>
          <p:nvPr/>
        </p:nvSpPr>
        <p:spPr>
          <a:xfrm>
            <a:off x="5669280" y="2331720"/>
            <a:ext cx="3200400" cy="27432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Shared Tools (3 tools)</a:t>
            </a:r>
            <a:endParaRPr lang="en-US" sz="1300" dirty="0"/>
          </a:p>
        </p:txBody>
      </p:sp>
      <p:sp>
        <p:nvSpPr>
          <p:cNvPr id="31" name="Text 29"/>
          <p:cNvSpPr/>
          <p:nvPr/>
        </p:nvSpPr>
        <p:spPr>
          <a:xfrm>
            <a:off x="5669280" y="2670048"/>
            <a:ext cx="1598023" cy="228600"/>
          </a:xfrm>
          <a:prstGeom prst="rect">
            <a:avLst/>
          </a:prstGeom>
          <a:noFill/>
          <a:ln>
            <a:solidFill>
              <a:schemeClr val="tx1"/>
            </a:solidFill>
          </a:ln>
        </p:spPr>
        <p:txBody>
          <a:bodyPr wrap="square" lIns="0" tIns="0" rIns="0" bIns="0" rtlCol="0" anchor="ctr"/>
          <a:lstStyle/>
          <a:p>
            <a:pPr marL="0" indent="0">
              <a:buNone/>
            </a:pPr>
            <a:r>
              <a:rPr lang="en-US" sz="950" dirty="0">
                <a:solidFill>
                  <a:srgbClr val="3498DB"/>
                </a:solidFill>
                <a:latin typeface="Consolas" pitchFamily="34" charset="0"/>
                <a:ea typeface="Consolas" pitchFamily="34" charset="-122"/>
                <a:cs typeface="Consolas" pitchFamily="34" charset="-120"/>
              </a:rPr>
              <a:t> </a:t>
            </a:r>
            <a:r>
              <a:rPr lang="en-US" sz="950" dirty="0" err="1">
                <a:solidFill>
                  <a:srgbClr val="3498DB"/>
                </a:solidFill>
                <a:latin typeface="Consolas" pitchFamily="34" charset="0"/>
                <a:ea typeface="Consolas" pitchFamily="34" charset="-122"/>
                <a:cs typeface="Consolas" pitchFamily="34" charset="-120"/>
              </a:rPr>
              <a:t>get_screenshot</a:t>
            </a:r>
            <a:endParaRPr lang="en-US" sz="950" dirty="0"/>
          </a:p>
        </p:txBody>
      </p:sp>
      <p:sp>
        <p:nvSpPr>
          <p:cNvPr id="32" name="Text 30"/>
          <p:cNvSpPr/>
          <p:nvPr/>
        </p:nvSpPr>
        <p:spPr>
          <a:xfrm>
            <a:off x="7267303" y="2670048"/>
            <a:ext cx="1510937" cy="228600"/>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Visual capture of selection</a:t>
            </a:r>
            <a:endParaRPr lang="en-US" sz="950" dirty="0"/>
          </a:p>
        </p:txBody>
      </p:sp>
      <p:sp>
        <p:nvSpPr>
          <p:cNvPr id="33" name="Text 31"/>
          <p:cNvSpPr/>
          <p:nvPr/>
        </p:nvSpPr>
        <p:spPr>
          <a:xfrm>
            <a:off x="5669280" y="2916936"/>
            <a:ext cx="1598023" cy="228600"/>
          </a:xfrm>
          <a:prstGeom prst="rect">
            <a:avLst/>
          </a:prstGeom>
          <a:noFill/>
          <a:ln>
            <a:solidFill>
              <a:schemeClr val="tx1"/>
            </a:solidFill>
          </a:ln>
        </p:spPr>
        <p:txBody>
          <a:bodyPr wrap="square" lIns="0" tIns="0" rIns="0" bIns="0" rtlCol="0" anchor="ctr"/>
          <a:lstStyle/>
          <a:p>
            <a:pPr marL="0" indent="0">
              <a:buNone/>
            </a:pPr>
            <a:r>
              <a:rPr lang="en-US" sz="950" dirty="0">
                <a:solidFill>
                  <a:srgbClr val="3498DB"/>
                </a:solidFill>
                <a:latin typeface="Consolas" pitchFamily="34" charset="0"/>
                <a:ea typeface="Consolas" pitchFamily="34" charset="-122"/>
                <a:cs typeface="Consolas" pitchFamily="34" charset="-120"/>
              </a:rPr>
              <a:t> </a:t>
            </a:r>
            <a:r>
              <a:rPr lang="en-US" sz="950" dirty="0" err="1">
                <a:solidFill>
                  <a:srgbClr val="3498DB"/>
                </a:solidFill>
                <a:latin typeface="Consolas" pitchFamily="34" charset="0"/>
                <a:ea typeface="Consolas" pitchFamily="34" charset="-122"/>
                <a:cs typeface="Consolas" pitchFamily="34" charset="-120"/>
              </a:rPr>
              <a:t>get_metadata</a:t>
            </a:r>
            <a:endParaRPr lang="en-US" sz="950" dirty="0"/>
          </a:p>
        </p:txBody>
      </p:sp>
      <p:sp>
        <p:nvSpPr>
          <p:cNvPr id="34" name="Text 32"/>
          <p:cNvSpPr/>
          <p:nvPr/>
        </p:nvSpPr>
        <p:spPr>
          <a:xfrm>
            <a:off x="7267303" y="2916936"/>
            <a:ext cx="1510937" cy="228600"/>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Layer structure (lightweight)</a:t>
            </a:r>
            <a:endParaRPr lang="en-US" sz="950" dirty="0"/>
          </a:p>
        </p:txBody>
      </p:sp>
      <p:sp>
        <p:nvSpPr>
          <p:cNvPr id="35" name="Text 33"/>
          <p:cNvSpPr/>
          <p:nvPr/>
        </p:nvSpPr>
        <p:spPr>
          <a:xfrm>
            <a:off x="5669280" y="3163824"/>
            <a:ext cx="1598023" cy="228600"/>
          </a:xfrm>
          <a:prstGeom prst="rect">
            <a:avLst/>
          </a:prstGeom>
          <a:noFill/>
          <a:ln>
            <a:solidFill>
              <a:schemeClr val="tx1"/>
            </a:solidFill>
          </a:ln>
        </p:spPr>
        <p:txBody>
          <a:bodyPr wrap="square" lIns="0" tIns="0" rIns="0" bIns="0" rtlCol="0" anchor="ctr"/>
          <a:lstStyle/>
          <a:p>
            <a:pPr marL="0" indent="0">
              <a:buNone/>
            </a:pPr>
            <a:r>
              <a:rPr lang="en-US" sz="950" dirty="0">
                <a:solidFill>
                  <a:srgbClr val="3498DB"/>
                </a:solidFill>
                <a:latin typeface="Consolas" pitchFamily="34" charset="0"/>
                <a:ea typeface="Consolas" pitchFamily="34" charset="-122"/>
                <a:cs typeface="Consolas" pitchFamily="34" charset="-120"/>
              </a:rPr>
              <a:t> </a:t>
            </a:r>
            <a:r>
              <a:rPr lang="en-US" sz="950" dirty="0" err="1">
                <a:solidFill>
                  <a:srgbClr val="3498DB"/>
                </a:solidFill>
                <a:latin typeface="Consolas" pitchFamily="34" charset="0"/>
                <a:ea typeface="Consolas" pitchFamily="34" charset="-122"/>
                <a:cs typeface="Consolas" pitchFamily="34" charset="-120"/>
              </a:rPr>
              <a:t>whoami</a:t>
            </a:r>
            <a:r>
              <a:rPr lang="en-US" sz="950" dirty="0">
                <a:solidFill>
                  <a:srgbClr val="3498DB"/>
                </a:solidFill>
                <a:latin typeface="Consolas" pitchFamily="34" charset="0"/>
                <a:ea typeface="Consolas" pitchFamily="34" charset="-122"/>
                <a:cs typeface="Consolas" pitchFamily="34" charset="-120"/>
              </a:rPr>
              <a:t> *</a:t>
            </a:r>
            <a:endParaRPr lang="en-US" sz="950" dirty="0"/>
          </a:p>
        </p:txBody>
      </p:sp>
      <p:sp>
        <p:nvSpPr>
          <p:cNvPr id="36" name="Text 34"/>
          <p:cNvSpPr/>
          <p:nvPr/>
        </p:nvSpPr>
        <p:spPr>
          <a:xfrm>
            <a:off x="7267303" y="3163824"/>
            <a:ext cx="1510937" cy="228600"/>
          </a:xfrm>
          <a:prstGeom prst="rect">
            <a:avLst/>
          </a:prstGeom>
          <a:noFill/>
          <a:ln>
            <a:solidFill>
              <a:schemeClr val="tx1"/>
            </a:solidFill>
          </a:ln>
        </p:spPr>
        <p:txBody>
          <a:bodyPr wrap="square" lIns="0" tIns="0" rIns="0" bIns="0" rtlCol="0" anchor="ctr"/>
          <a:lstStyle/>
          <a:p>
            <a:pPr marL="0" indent="0" algn="ctr">
              <a:buNone/>
            </a:pPr>
            <a:r>
              <a:rPr lang="en-US" sz="950" dirty="0">
                <a:solidFill>
                  <a:srgbClr val="3B4F68"/>
                </a:solidFill>
                <a:latin typeface="Calibri" pitchFamily="34" charset="0"/>
                <a:ea typeface="Calibri" pitchFamily="34" charset="-122"/>
                <a:cs typeface="Calibri" pitchFamily="34" charset="-120"/>
              </a:rPr>
              <a:t>Authenticated user identity</a:t>
            </a:r>
            <a:endParaRPr lang="en-US" sz="950" dirty="0"/>
          </a:p>
        </p:txBody>
      </p:sp>
      <p:sp>
        <p:nvSpPr>
          <p:cNvPr id="37" name="Shape 35"/>
          <p:cNvSpPr/>
          <p:nvPr/>
        </p:nvSpPr>
        <p:spPr>
          <a:xfrm>
            <a:off x="548640" y="3572688"/>
            <a:ext cx="8046720" cy="347472"/>
          </a:xfrm>
          <a:prstGeom prst="rect">
            <a:avLst/>
          </a:prstGeom>
          <a:solidFill>
            <a:srgbClr val="F7F9FB"/>
          </a:solidFill>
          <a:ln/>
        </p:spPr>
        <p:txBody>
          <a:bodyPr/>
          <a:lstStyle/>
          <a:p>
            <a:endParaRPr lang="en-US"/>
          </a:p>
        </p:txBody>
      </p:sp>
      <p:sp>
        <p:nvSpPr>
          <p:cNvPr id="38" name="Shape 36"/>
          <p:cNvSpPr/>
          <p:nvPr/>
        </p:nvSpPr>
        <p:spPr>
          <a:xfrm>
            <a:off x="548640" y="3572688"/>
            <a:ext cx="54864" cy="347472"/>
          </a:xfrm>
          <a:prstGeom prst="rect">
            <a:avLst/>
          </a:prstGeom>
          <a:solidFill>
            <a:srgbClr val="F39C12"/>
          </a:solidFill>
          <a:ln/>
        </p:spPr>
        <p:txBody>
          <a:bodyPr/>
          <a:lstStyle/>
          <a:p>
            <a:endParaRPr lang="en-US"/>
          </a:p>
        </p:txBody>
      </p:sp>
      <p:sp>
        <p:nvSpPr>
          <p:cNvPr id="39" name="Text 37"/>
          <p:cNvSpPr/>
          <p:nvPr/>
        </p:nvSpPr>
        <p:spPr>
          <a:xfrm>
            <a:off x="777240" y="3572688"/>
            <a:ext cx="7635240" cy="347472"/>
          </a:xfrm>
          <a:prstGeom prst="rect">
            <a:avLst/>
          </a:prstGeom>
          <a:noFill/>
          <a:ln/>
        </p:spPr>
        <p:txBody>
          <a:bodyPr wrap="square" lIns="0" tIns="0" rIns="0" bIns="0" rtlCol="0" anchor="ctr"/>
          <a:lstStyle/>
          <a:p>
            <a:pPr marL="0" indent="0">
              <a:buNone/>
            </a:pPr>
            <a:r>
              <a:rPr lang="en-US" sz="1050" i="1" dirty="0">
                <a:solidFill>
                  <a:srgbClr val="3B4F68"/>
                </a:solidFill>
                <a:latin typeface="Calibri" pitchFamily="34" charset="0"/>
                <a:ea typeface="Calibri" pitchFamily="34" charset="-122"/>
                <a:cs typeface="Calibri" pitchFamily="34" charset="-120"/>
              </a:rPr>
              <a:t>* = Claude Code + Remote MCP only. These tools may not appear in Desktop MCP or other clients.</a:t>
            </a:r>
            <a:endParaRPr lang="en-US" sz="1050" dirty="0"/>
          </a:p>
        </p:txBody>
      </p:sp>
      <p:sp>
        <p:nvSpPr>
          <p:cNvPr id="40" name="Shape 38"/>
          <p:cNvSpPr/>
          <p:nvPr/>
        </p:nvSpPr>
        <p:spPr>
          <a:xfrm>
            <a:off x="548640" y="3977640"/>
            <a:ext cx="8046720" cy="38404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1" name="Text 39"/>
          <p:cNvSpPr/>
          <p:nvPr/>
        </p:nvSpPr>
        <p:spPr>
          <a:xfrm>
            <a:off x="777240" y="3977640"/>
            <a:ext cx="7589520" cy="384048"/>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Focus today: </a:t>
            </a:r>
            <a:r>
              <a:rPr lang="en-US" sz="1200" dirty="0">
                <a:solidFill>
                  <a:srgbClr val="0ABAB5"/>
                </a:solidFill>
                <a:latin typeface="Consolas" pitchFamily="34" charset="0"/>
                <a:ea typeface="Consolas" pitchFamily="34" charset="-122"/>
                <a:cs typeface="Consolas" pitchFamily="34" charset="-120"/>
              </a:rPr>
              <a:t>get_design_context</a:t>
            </a:r>
            <a:r>
              <a:rPr lang="en-US" sz="1200" dirty="0">
                <a:solidFill>
                  <a:srgbClr val="1E3A5F"/>
                </a:solidFill>
                <a:latin typeface="Calibri" pitchFamily="34" charset="0"/>
                <a:ea typeface="Calibri" pitchFamily="34" charset="-122"/>
                <a:cs typeface="Calibri" pitchFamily="34" charset="-120"/>
              </a:rPr>
              <a:t> and </a:t>
            </a:r>
            <a:r>
              <a:rPr lang="en-US" sz="1200" dirty="0">
                <a:solidFill>
                  <a:srgbClr val="0ABAB5"/>
                </a:solidFill>
                <a:latin typeface="Consolas" pitchFamily="34" charset="0"/>
                <a:ea typeface="Consolas" pitchFamily="34" charset="-122"/>
                <a:cs typeface="Consolas" pitchFamily="34" charset="-120"/>
              </a:rPr>
              <a:t>get_variable_defs</a:t>
            </a:r>
            <a:r>
              <a:rPr lang="en-US" sz="1200" dirty="0">
                <a:solidFill>
                  <a:srgbClr val="3B4F68"/>
                </a:solidFill>
                <a:latin typeface="Calibri" pitchFamily="34" charset="0"/>
                <a:ea typeface="Calibri" pitchFamily="34" charset="-122"/>
                <a:cs typeface="Calibri" pitchFamily="34" charset="-120"/>
              </a:rPr>
              <a:t> — the most immediately useful tools.</a:t>
            </a:r>
            <a:endParaRPr lang="en-US" sz="1200" dirty="0"/>
          </a:p>
        </p:txBody>
      </p:sp>
      <p:sp>
        <p:nvSpPr>
          <p:cNvPr id="42" name="Shape 40"/>
          <p:cNvSpPr/>
          <p:nvPr/>
        </p:nvSpPr>
        <p:spPr>
          <a:xfrm>
            <a:off x="0" y="4434840"/>
            <a:ext cx="9144000" cy="713232"/>
          </a:xfrm>
          <a:prstGeom prst="rect">
            <a:avLst/>
          </a:prstGeom>
          <a:solidFill>
            <a:srgbClr val="1E3A5F"/>
          </a:solidFill>
          <a:ln/>
        </p:spPr>
        <p:txBody>
          <a:bodyPr/>
          <a:lstStyle/>
          <a:p>
            <a:endParaRPr lang="en-US"/>
          </a:p>
        </p:txBody>
      </p:sp>
      <p:sp>
        <p:nvSpPr>
          <p:cNvPr id="43" name="Text 41"/>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Developers use get_design_context. Designers use generate_figma_design. get_screenshot works for both.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Code Connect</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Mapping design components to code components</a:t>
            </a:r>
            <a:endParaRPr lang="en-US" sz="1500" dirty="0"/>
          </a:p>
        </p:txBody>
      </p:sp>
      <p:sp>
        <p:nvSpPr>
          <p:cNvPr id="5" name="Shape 3"/>
          <p:cNvSpPr/>
          <p:nvPr/>
        </p:nvSpPr>
        <p:spPr>
          <a:xfrm>
            <a:off x="548640" y="1417320"/>
            <a:ext cx="3200400" cy="420624"/>
          </a:xfrm>
          <a:prstGeom prst="rect">
            <a:avLst/>
          </a:prstGeom>
          <a:solidFill>
            <a:srgbClr val="1B2D45"/>
          </a:solidFill>
          <a:ln/>
        </p:spPr>
        <p:txBody>
          <a:bodyPr/>
          <a:lstStyle/>
          <a:p>
            <a:endParaRPr lang="en-US"/>
          </a:p>
        </p:txBody>
      </p:sp>
      <p:sp>
        <p:nvSpPr>
          <p:cNvPr id="6" name="Text 4"/>
          <p:cNvSpPr/>
          <p:nvPr/>
        </p:nvSpPr>
        <p:spPr>
          <a:xfrm>
            <a:off x="731520" y="1417320"/>
            <a:ext cx="2834640" cy="420624"/>
          </a:xfrm>
          <a:prstGeom prst="rect">
            <a:avLst/>
          </a:prstGeom>
          <a:noFill/>
          <a:ln/>
        </p:spPr>
        <p:txBody>
          <a:bodyPr wrap="square" lIns="0" tIns="0" rIns="0" bIns="0" rtlCol="0" anchor="ctr"/>
          <a:lstStyle/>
          <a:p>
            <a:pPr marL="0" indent="0">
              <a:buNone/>
            </a:pPr>
            <a:r>
              <a:rPr lang="en-US" sz="1150" dirty="0">
                <a:solidFill>
                  <a:srgbClr val="0ABAB5"/>
                </a:solidFill>
                <a:latin typeface="Consolas" pitchFamily="34" charset="0"/>
                <a:ea typeface="Consolas" pitchFamily="34" charset="-122"/>
                <a:cs typeface="Consolas" pitchFamily="34" charset="-120"/>
              </a:rPr>
              <a:t>Figma: "Primary Button"</a:t>
            </a:r>
            <a:endParaRPr lang="en-US" sz="1150" dirty="0"/>
          </a:p>
        </p:txBody>
      </p:sp>
      <p:sp>
        <p:nvSpPr>
          <p:cNvPr id="7" name="Text 5"/>
          <p:cNvSpPr/>
          <p:nvPr/>
        </p:nvSpPr>
        <p:spPr>
          <a:xfrm>
            <a:off x="3840480" y="1417320"/>
            <a:ext cx="548640" cy="420624"/>
          </a:xfrm>
          <a:prstGeom prst="rect">
            <a:avLst/>
          </a:prstGeom>
          <a:noFill/>
          <a:ln/>
        </p:spPr>
        <p:txBody>
          <a:bodyPr wrap="square" lIns="0" tIns="0" rIns="0" bIns="0" rtlCol="0" anchor="ctr"/>
          <a:lstStyle/>
          <a:p>
            <a:pPr marL="0" indent="0" algn="ctr">
              <a:buNone/>
            </a:pPr>
            <a:r>
              <a:rPr lang="en-US" sz="1800" b="1" dirty="0">
                <a:solidFill>
                  <a:srgbClr val="0ABAB5"/>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4480560" y="1417320"/>
            <a:ext cx="4114800" cy="420624"/>
          </a:xfrm>
          <a:prstGeom prst="rect">
            <a:avLst/>
          </a:prstGeom>
          <a:solidFill>
            <a:srgbClr val="1B2D45"/>
          </a:solidFill>
          <a:ln/>
        </p:spPr>
        <p:txBody>
          <a:bodyPr/>
          <a:lstStyle/>
          <a:p>
            <a:endParaRPr lang="en-US"/>
          </a:p>
        </p:txBody>
      </p:sp>
      <p:sp>
        <p:nvSpPr>
          <p:cNvPr id="9" name="Text 7"/>
          <p:cNvSpPr/>
          <p:nvPr/>
        </p:nvSpPr>
        <p:spPr>
          <a:xfrm>
            <a:off x="4663440" y="1417320"/>
            <a:ext cx="3749040" cy="420624"/>
          </a:xfrm>
          <a:prstGeom prst="rect">
            <a:avLst/>
          </a:prstGeom>
          <a:noFill/>
          <a:ln/>
        </p:spPr>
        <p:txBody>
          <a:bodyPr wrap="square" lIns="0" tIns="0" rIns="0" bIns="0" rtlCol="0" anchor="ctr"/>
          <a:lstStyle/>
          <a:p>
            <a:pPr marL="0" indent="0">
              <a:buNone/>
            </a:pPr>
            <a:r>
              <a:rPr lang="en-US" sz="1150" dirty="0">
                <a:solidFill>
                  <a:srgbClr val="27AE60"/>
                </a:solidFill>
                <a:latin typeface="Consolas" pitchFamily="34" charset="0"/>
                <a:ea typeface="Consolas" pitchFamily="34" charset="-122"/>
                <a:cs typeface="Consolas" pitchFamily="34" charset="-120"/>
              </a:rPr>
              <a:t>Code: &lt;Button color="primary" /&gt;</a:t>
            </a:r>
            <a:endParaRPr lang="en-US" sz="1150" dirty="0"/>
          </a:p>
        </p:txBody>
      </p:sp>
      <p:sp>
        <p:nvSpPr>
          <p:cNvPr id="10" name="Shape 8"/>
          <p:cNvSpPr/>
          <p:nvPr/>
        </p:nvSpPr>
        <p:spPr>
          <a:xfrm>
            <a:off x="548640" y="1947672"/>
            <a:ext cx="3200400" cy="420624"/>
          </a:xfrm>
          <a:prstGeom prst="rect">
            <a:avLst/>
          </a:prstGeom>
          <a:solidFill>
            <a:srgbClr val="1B2D45"/>
          </a:solidFill>
          <a:ln/>
        </p:spPr>
        <p:txBody>
          <a:bodyPr/>
          <a:lstStyle/>
          <a:p>
            <a:endParaRPr lang="en-US"/>
          </a:p>
        </p:txBody>
      </p:sp>
      <p:sp>
        <p:nvSpPr>
          <p:cNvPr id="11" name="Text 9"/>
          <p:cNvSpPr/>
          <p:nvPr/>
        </p:nvSpPr>
        <p:spPr>
          <a:xfrm>
            <a:off x="731520" y="1947672"/>
            <a:ext cx="2834640" cy="420624"/>
          </a:xfrm>
          <a:prstGeom prst="rect">
            <a:avLst/>
          </a:prstGeom>
          <a:noFill/>
          <a:ln/>
        </p:spPr>
        <p:txBody>
          <a:bodyPr wrap="square" lIns="0" tIns="0" rIns="0" bIns="0" rtlCol="0" anchor="ctr"/>
          <a:lstStyle/>
          <a:p>
            <a:pPr marL="0" indent="0">
              <a:buNone/>
            </a:pPr>
            <a:r>
              <a:rPr lang="en-US" sz="1150" dirty="0">
                <a:solidFill>
                  <a:srgbClr val="0ABAB5"/>
                </a:solidFill>
                <a:latin typeface="Consolas" pitchFamily="34" charset="0"/>
                <a:ea typeface="Consolas" pitchFamily="34" charset="-122"/>
                <a:cs typeface="Consolas" pitchFamily="34" charset="-120"/>
              </a:rPr>
              <a:t>Figma: "Data Table"</a:t>
            </a:r>
            <a:endParaRPr lang="en-US" sz="1150" dirty="0"/>
          </a:p>
        </p:txBody>
      </p:sp>
      <p:sp>
        <p:nvSpPr>
          <p:cNvPr id="12" name="Text 10"/>
          <p:cNvSpPr/>
          <p:nvPr/>
        </p:nvSpPr>
        <p:spPr>
          <a:xfrm>
            <a:off x="3840480" y="1947672"/>
            <a:ext cx="548640" cy="420624"/>
          </a:xfrm>
          <a:prstGeom prst="rect">
            <a:avLst/>
          </a:prstGeom>
          <a:noFill/>
          <a:ln/>
        </p:spPr>
        <p:txBody>
          <a:bodyPr wrap="square" lIns="0" tIns="0" rIns="0" bIns="0" rtlCol="0" anchor="ctr"/>
          <a:lstStyle/>
          <a:p>
            <a:pPr marL="0" indent="0" algn="ctr">
              <a:buNone/>
            </a:pPr>
            <a:r>
              <a:rPr lang="en-US" sz="1800" b="1" dirty="0">
                <a:solidFill>
                  <a:srgbClr val="0ABAB5"/>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4480560" y="1947672"/>
            <a:ext cx="4114800" cy="420624"/>
          </a:xfrm>
          <a:prstGeom prst="rect">
            <a:avLst/>
          </a:prstGeom>
          <a:solidFill>
            <a:srgbClr val="1B2D45"/>
          </a:solidFill>
          <a:ln/>
        </p:spPr>
        <p:txBody>
          <a:bodyPr/>
          <a:lstStyle/>
          <a:p>
            <a:endParaRPr lang="en-US"/>
          </a:p>
        </p:txBody>
      </p:sp>
      <p:sp>
        <p:nvSpPr>
          <p:cNvPr id="14" name="Text 12"/>
          <p:cNvSpPr/>
          <p:nvPr/>
        </p:nvSpPr>
        <p:spPr>
          <a:xfrm>
            <a:off x="4663440" y="1947672"/>
            <a:ext cx="3749040" cy="420624"/>
          </a:xfrm>
          <a:prstGeom prst="rect">
            <a:avLst/>
          </a:prstGeom>
          <a:noFill/>
          <a:ln/>
        </p:spPr>
        <p:txBody>
          <a:bodyPr wrap="square" lIns="0" tIns="0" rIns="0" bIns="0" rtlCol="0" anchor="ctr"/>
          <a:lstStyle/>
          <a:p>
            <a:pPr marL="0" indent="0">
              <a:buNone/>
            </a:pPr>
            <a:r>
              <a:rPr lang="en-US" sz="1150" dirty="0">
                <a:solidFill>
                  <a:srgbClr val="27AE60"/>
                </a:solidFill>
                <a:latin typeface="Consolas" pitchFamily="34" charset="0"/>
                <a:ea typeface="Consolas" pitchFamily="34" charset="-122"/>
                <a:cs typeface="Consolas" pitchFamily="34" charset="-120"/>
              </a:rPr>
              <a:t>Code: &lt;Table responsive /&gt;</a:t>
            </a:r>
            <a:endParaRPr lang="en-US" sz="1150" dirty="0"/>
          </a:p>
        </p:txBody>
      </p:sp>
      <p:sp>
        <p:nvSpPr>
          <p:cNvPr id="15" name="Shape 13"/>
          <p:cNvSpPr/>
          <p:nvPr/>
        </p:nvSpPr>
        <p:spPr>
          <a:xfrm>
            <a:off x="548640" y="2478024"/>
            <a:ext cx="3200400" cy="420624"/>
          </a:xfrm>
          <a:prstGeom prst="rect">
            <a:avLst/>
          </a:prstGeom>
          <a:solidFill>
            <a:srgbClr val="1B2D45"/>
          </a:solidFill>
          <a:ln/>
        </p:spPr>
        <p:txBody>
          <a:bodyPr/>
          <a:lstStyle/>
          <a:p>
            <a:endParaRPr lang="en-US"/>
          </a:p>
        </p:txBody>
      </p:sp>
      <p:sp>
        <p:nvSpPr>
          <p:cNvPr id="16" name="Text 14"/>
          <p:cNvSpPr/>
          <p:nvPr/>
        </p:nvSpPr>
        <p:spPr>
          <a:xfrm>
            <a:off x="731520" y="2478024"/>
            <a:ext cx="2834640" cy="420624"/>
          </a:xfrm>
          <a:prstGeom prst="rect">
            <a:avLst/>
          </a:prstGeom>
          <a:noFill/>
          <a:ln/>
        </p:spPr>
        <p:txBody>
          <a:bodyPr wrap="square" lIns="0" tIns="0" rIns="0" bIns="0" rtlCol="0" anchor="ctr"/>
          <a:lstStyle/>
          <a:p>
            <a:pPr marL="0" indent="0">
              <a:buNone/>
            </a:pPr>
            <a:r>
              <a:rPr lang="en-US" sz="1150" dirty="0">
                <a:solidFill>
                  <a:srgbClr val="0ABAB5"/>
                </a:solidFill>
                <a:latin typeface="Consolas" pitchFamily="34" charset="0"/>
                <a:ea typeface="Consolas" pitchFamily="34" charset="-122"/>
                <a:cs typeface="Consolas" pitchFamily="34" charset="-120"/>
              </a:rPr>
              <a:t>Figma: "Status Card"</a:t>
            </a:r>
            <a:endParaRPr lang="en-US" sz="1150" dirty="0"/>
          </a:p>
        </p:txBody>
      </p:sp>
      <p:sp>
        <p:nvSpPr>
          <p:cNvPr id="17" name="Text 15"/>
          <p:cNvSpPr/>
          <p:nvPr/>
        </p:nvSpPr>
        <p:spPr>
          <a:xfrm>
            <a:off x="3840480" y="2478024"/>
            <a:ext cx="548640" cy="420624"/>
          </a:xfrm>
          <a:prstGeom prst="rect">
            <a:avLst/>
          </a:prstGeom>
          <a:noFill/>
          <a:ln/>
        </p:spPr>
        <p:txBody>
          <a:bodyPr wrap="square" lIns="0" tIns="0" rIns="0" bIns="0" rtlCol="0" anchor="ctr"/>
          <a:lstStyle/>
          <a:p>
            <a:pPr marL="0" indent="0" algn="ctr">
              <a:buNone/>
            </a:pPr>
            <a:r>
              <a:rPr lang="en-US" sz="1800" b="1" dirty="0">
                <a:solidFill>
                  <a:srgbClr val="0ABAB5"/>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4480560" y="2478024"/>
            <a:ext cx="4114800" cy="420624"/>
          </a:xfrm>
          <a:prstGeom prst="rect">
            <a:avLst/>
          </a:prstGeom>
          <a:solidFill>
            <a:srgbClr val="1B2D45"/>
          </a:solidFill>
          <a:ln/>
        </p:spPr>
        <p:txBody>
          <a:bodyPr/>
          <a:lstStyle/>
          <a:p>
            <a:endParaRPr lang="en-US"/>
          </a:p>
        </p:txBody>
      </p:sp>
      <p:sp>
        <p:nvSpPr>
          <p:cNvPr id="19" name="Text 17"/>
          <p:cNvSpPr/>
          <p:nvPr/>
        </p:nvSpPr>
        <p:spPr>
          <a:xfrm>
            <a:off x="4663440" y="2478024"/>
            <a:ext cx="3749040" cy="420624"/>
          </a:xfrm>
          <a:prstGeom prst="rect">
            <a:avLst/>
          </a:prstGeom>
          <a:noFill/>
          <a:ln/>
        </p:spPr>
        <p:txBody>
          <a:bodyPr wrap="square" lIns="0" tIns="0" rIns="0" bIns="0" rtlCol="0" anchor="ctr"/>
          <a:lstStyle/>
          <a:p>
            <a:pPr marL="0" indent="0">
              <a:buNone/>
            </a:pPr>
            <a:r>
              <a:rPr lang="en-US" sz="1150" dirty="0">
                <a:solidFill>
                  <a:srgbClr val="27AE60"/>
                </a:solidFill>
                <a:latin typeface="Consolas" pitchFamily="34" charset="0"/>
                <a:ea typeface="Consolas" pitchFamily="34" charset="-122"/>
                <a:cs typeface="Consolas" pitchFamily="34" charset="-120"/>
              </a:rPr>
              <a:t>Code: &lt;Card className="status-card" /&gt;</a:t>
            </a:r>
            <a:endParaRPr lang="en-US" sz="1150" dirty="0"/>
          </a:p>
        </p:txBody>
      </p:sp>
      <p:sp>
        <p:nvSpPr>
          <p:cNvPr id="20" name="Shape 18"/>
          <p:cNvSpPr/>
          <p:nvPr/>
        </p:nvSpPr>
        <p:spPr>
          <a:xfrm>
            <a:off x="548640" y="3108960"/>
            <a:ext cx="493776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1" name="Shape 19"/>
          <p:cNvSpPr/>
          <p:nvPr/>
        </p:nvSpPr>
        <p:spPr>
          <a:xfrm>
            <a:off x="548640" y="3108960"/>
            <a:ext cx="4937760" cy="54864"/>
          </a:xfrm>
          <a:prstGeom prst="rect">
            <a:avLst/>
          </a:prstGeom>
          <a:solidFill>
            <a:srgbClr val="0ABAB5"/>
          </a:solidFill>
          <a:ln/>
        </p:spPr>
        <p:txBody>
          <a:bodyPr/>
          <a:lstStyle/>
          <a:p>
            <a:endParaRPr lang="en-US"/>
          </a:p>
        </p:txBody>
      </p:sp>
      <p:sp>
        <p:nvSpPr>
          <p:cNvPr id="22" name="Text 20"/>
          <p:cNvSpPr/>
          <p:nvPr/>
        </p:nvSpPr>
        <p:spPr>
          <a:xfrm>
            <a:off x="777240" y="3200400"/>
            <a:ext cx="4480560" cy="25603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Setup via MCP</a:t>
            </a:r>
            <a:endParaRPr lang="en-US" sz="1400" dirty="0"/>
          </a:p>
        </p:txBody>
      </p:sp>
      <p:sp>
        <p:nvSpPr>
          <p:cNvPr id="23" name="Text 21"/>
          <p:cNvSpPr/>
          <p:nvPr/>
        </p:nvSpPr>
        <p:spPr>
          <a:xfrm>
            <a:off x="777240" y="3520440"/>
            <a:ext cx="4480560" cy="164592"/>
          </a:xfrm>
          <a:prstGeom prst="rect">
            <a:avLst/>
          </a:prstGeom>
          <a:noFill/>
          <a:ln/>
        </p:spPr>
        <p:txBody>
          <a:bodyPr wrap="square" lIns="0" tIns="0" rIns="0" bIns="0" rtlCol="0" anchor="ctr"/>
          <a:lstStyle/>
          <a:p>
            <a:pPr marL="0" indent="0">
              <a:buNone/>
            </a:pPr>
            <a:r>
              <a:rPr lang="en-US" sz="1000" dirty="0">
                <a:solidFill>
                  <a:srgbClr val="3B4F68"/>
                </a:solidFill>
                <a:latin typeface="Calibri" pitchFamily="34" charset="0"/>
                <a:ea typeface="Calibri" pitchFamily="34" charset="-122"/>
                <a:cs typeface="Calibri" pitchFamily="34" charset="-120"/>
              </a:rPr>
              <a:t>1. get_code_connect_suggestions — Claude suggests mappings</a:t>
            </a:r>
            <a:endParaRPr lang="en-US" sz="1000" dirty="0"/>
          </a:p>
        </p:txBody>
      </p:sp>
      <p:sp>
        <p:nvSpPr>
          <p:cNvPr id="24" name="Text 22"/>
          <p:cNvSpPr/>
          <p:nvPr/>
        </p:nvSpPr>
        <p:spPr>
          <a:xfrm>
            <a:off x="777240" y="3694176"/>
            <a:ext cx="4480560" cy="164592"/>
          </a:xfrm>
          <a:prstGeom prst="rect">
            <a:avLst/>
          </a:prstGeom>
          <a:noFill/>
          <a:ln/>
        </p:spPr>
        <p:txBody>
          <a:bodyPr wrap="square" lIns="0" tIns="0" rIns="0" bIns="0" rtlCol="0" anchor="ctr"/>
          <a:lstStyle/>
          <a:p>
            <a:pPr marL="0" indent="0">
              <a:buNone/>
            </a:pPr>
            <a:r>
              <a:rPr lang="en-US" sz="1000" dirty="0">
                <a:solidFill>
                  <a:srgbClr val="3B4F68"/>
                </a:solidFill>
                <a:latin typeface="Calibri" pitchFamily="34" charset="0"/>
                <a:ea typeface="Calibri" pitchFamily="34" charset="-122"/>
                <a:cs typeface="Calibri" pitchFamily="34" charset="-120"/>
              </a:rPr>
              <a:t>2. Review the suggestions</a:t>
            </a:r>
            <a:endParaRPr lang="en-US" sz="1000" dirty="0"/>
          </a:p>
        </p:txBody>
      </p:sp>
      <p:sp>
        <p:nvSpPr>
          <p:cNvPr id="25" name="Text 23"/>
          <p:cNvSpPr/>
          <p:nvPr/>
        </p:nvSpPr>
        <p:spPr>
          <a:xfrm>
            <a:off x="777240" y="3867912"/>
            <a:ext cx="4480560" cy="164592"/>
          </a:xfrm>
          <a:prstGeom prst="rect">
            <a:avLst/>
          </a:prstGeom>
          <a:noFill/>
          <a:ln/>
        </p:spPr>
        <p:txBody>
          <a:bodyPr wrap="square" lIns="0" tIns="0" rIns="0" bIns="0" rtlCol="0" anchor="ctr"/>
          <a:lstStyle/>
          <a:p>
            <a:pPr marL="0" indent="0">
              <a:buNone/>
            </a:pPr>
            <a:r>
              <a:rPr lang="en-US" sz="1000" dirty="0">
                <a:solidFill>
                  <a:srgbClr val="3B4F68"/>
                </a:solidFill>
                <a:latin typeface="Calibri" pitchFamily="34" charset="0"/>
                <a:ea typeface="Calibri" pitchFamily="34" charset="-122"/>
                <a:cs typeface="Calibri" pitchFamily="34" charset="-120"/>
              </a:rPr>
              <a:t>3. send_code_connect_mappings — Confirm</a:t>
            </a:r>
            <a:endParaRPr lang="en-US" sz="1000" dirty="0"/>
          </a:p>
        </p:txBody>
      </p:sp>
      <p:sp>
        <p:nvSpPr>
          <p:cNvPr id="26" name="Text 24"/>
          <p:cNvSpPr/>
          <p:nvPr/>
        </p:nvSpPr>
        <p:spPr>
          <a:xfrm>
            <a:off x="777240" y="4041648"/>
            <a:ext cx="4480560" cy="164592"/>
          </a:xfrm>
          <a:prstGeom prst="rect">
            <a:avLst/>
          </a:prstGeom>
          <a:noFill/>
          <a:ln/>
        </p:spPr>
        <p:txBody>
          <a:bodyPr wrap="square" lIns="0" tIns="0" rIns="0" bIns="0" rtlCol="0" anchor="ctr"/>
          <a:lstStyle/>
          <a:p>
            <a:pPr marL="0" indent="0">
              <a:buNone/>
            </a:pPr>
            <a:r>
              <a:rPr lang="en-US" sz="1000" dirty="0">
                <a:solidFill>
                  <a:srgbClr val="3B4F68"/>
                </a:solidFill>
                <a:latin typeface="Calibri" pitchFamily="34" charset="0"/>
                <a:ea typeface="Calibri" pitchFamily="34" charset="-122"/>
                <a:cs typeface="Calibri" pitchFamily="34" charset="-120"/>
              </a:rPr>
              <a:t>4. Or use add_code_connect_map for manual mappings</a:t>
            </a:r>
            <a:endParaRPr lang="en-US" sz="1000" dirty="0"/>
          </a:p>
        </p:txBody>
      </p:sp>
      <p:sp>
        <p:nvSpPr>
          <p:cNvPr id="27" name="Shape 25"/>
          <p:cNvSpPr/>
          <p:nvPr/>
        </p:nvSpPr>
        <p:spPr>
          <a:xfrm>
            <a:off x="5669280" y="3108960"/>
            <a:ext cx="2926080"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8" name="Shape 26"/>
          <p:cNvSpPr/>
          <p:nvPr/>
        </p:nvSpPr>
        <p:spPr>
          <a:xfrm>
            <a:off x="5669280" y="3108960"/>
            <a:ext cx="54864" cy="1097280"/>
          </a:xfrm>
          <a:prstGeom prst="rect">
            <a:avLst/>
          </a:prstGeom>
          <a:solidFill>
            <a:srgbClr val="F39C12"/>
          </a:solidFill>
          <a:ln/>
        </p:spPr>
        <p:txBody>
          <a:bodyPr/>
          <a:lstStyle/>
          <a:p>
            <a:endParaRPr lang="en-US"/>
          </a:p>
        </p:txBody>
      </p:sp>
      <p:sp>
        <p:nvSpPr>
          <p:cNvPr id="29" name="Text 27"/>
          <p:cNvSpPr/>
          <p:nvPr/>
        </p:nvSpPr>
        <p:spPr>
          <a:xfrm>
            <a:off x="5897880" y="3200400"/>
            <a:ext cx="2468880" cy="25603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Why It Matters</a:t>
            </a:r>
            <a:endParaRPr lang="en-US" sz="1400" dirty="0"/>
          </a:p>
        </p:txBody>
      </p:sp>
      <p:sp>
        <p:nvSpPr>
          <p:cNvPr id="30" name="Text 28"/>
          <p:cNvSpPr/>
          <p:nvPr/>
        </p:nvSpPr>
        <p:spPr>
          <a:xfrm>
            <a:off x="5897880" y="3474720"/>
            <a:ext cx="2468880" cy="658368"/>
          </a:xfrm>
          <a:prstGeom prst="rect">
            <a:avLst/>
          </a:prstGeom>
          <a:noFill/>
          <a:ln/>
        </p:spPr>
        <p:txBody>
          <a:bodyPr wrap="square" lIns="0" tIns="0" rIns="0" bIns="0" rtlCol="0" anchor="ctr"/>
          <a:lstStyle/>
          <a:p>
            <a:pPr marL="0" indent="0">
              <a:buNone/>
            </a:pPr>
            <a:r>
              <a:rPr lang="en-US" sz="1000" dirty="0">
                <a:solidFill>
                  <a:srgbClr val="3B4F68"/>
                </a:solidFill>
                <a:latin typeface="Calibri" pitchFamily="34" charset="0"/>
                <a:ea typeface="Calibri" pitchFamily="34" charset="-122"/>
                <a:cs typeface="Calibri" pitchFamily="34" charset="-120"/>
              </a:rPr>
              <a:t>Without it: generic code.</a:t>
            </a:r>
            <a:endParaRPr lang="en-US" sz="1000" dirty="0"/>
          </a:p>
          <a:p>
            <a:pPr marL="0" indent="0">
              <a:buNone/>
            </a:pPr>
            <a:r>
              <a:rPr lang="en-US" sz="1000" dirty="0">
                <a:solidFill>
                  <a:srgbClr val="3B4F68"/>
                </a:solidFill>
                <a:latin typeface="Calibri" pitchFamily="34" charset="0"/>
                <a:ea typeface="Calibri" pitchFamily="34" charset="-122"/>
                <a:cs typeface="Calibri" pitchFamily="34" charset="-120"/>
              </a:rPr>
              <a:t>With it: your actual components.</a:t>
            </a:r>
            <a:endParaRPr lang="en-US" sz="1000" dirty="0"/>
          </a:p>
          <a:p>
            <a:pPr marL="0" indent="0">
              <a:buNone/>
            </a:pPr>
            <a:endParaRPr lang="en-US" sz="1000" dirty="0"/>
          </a:p>
          <a:p>
            <a:pPr marL="0" indent="0">
              <a:buNone/>
            </a:pPr>
            <a:r>
              <a:rPr lang="en-US" sz="1000" dirty="0">
                <a:solidFill>
                  <a:srgbClr val="3B4F68"/>
                </a:solidFill>
                <a:latin typeface="Calibri" pitchFamily="34" charset="0"/>
                <a:ea typeface="Calibri" pitchFamily="34" charset="-122"/>
                <a:cs typeface="Calibri" pitchFamily="34" charset="-120"/>
              </a:rPr>
              <a:t>For energycorp: Reactstrap + class patterns instead of Tailwind + hooks.</a:t>
            </a:r>
            <a:endParaRPr lang="en-US" sz="1000" dirty="0"/>
          </a:p>
        </p:txBody>
      </p:sp>
      <p:sp>
        <p:nvSpPr>
          <p:cNvPr id="31" name="Shape 29"/>
          <p:cNvSpPr/>
          <p:nvPr/>
        </p:nvSpPr>
        <p:spPr>
          <a:xfrm>
            <a:off x="0" y="4434840"/>
            <a:ext cx="9144000" cy="713232"/>
          </a:xfrm>
          <a:prstGeom prst="rect">
            <a:avLst/>
          </a:prstGeom>
          <a:solidFill>
            <a:srgbClr val="1E3A5F"/>
          </a:solidFill>
          <a:ln/>
        </p:spPr>
        <p:txBody>
          <a:bodyPr/>
          <a:lstStyle/>
          <a:p>
            <a:endParaRPr lang="en-US"/>
          </a:p>
        </p:txBody>
      </p:sp>
      <p:sp>
        <p:nvSpPr>
          <p:cNvPr id="32" name="Text 30"/>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Prevents hallucinated components. Requires Organization or Enterprise plan.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Design System Rules</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Automated consistency via create_design_system_rules</a:t>
            </a:r>
            <a:endParaRPr lang="en-US" sz="1500" dirty="0"/>
          </a:p>
        </p:txBody>
      </p:sp>
      <p:sp>
        <p:nvSpPr>
          <p:cNvPr id="5" name="Shape 3"/>
          <p:cNvSpPr/>
          <p:nvPr/>
        </p:nvSpPr>
        <p:spPr>
          <a:xfrm>
            <a:off x="548640" y="1417320"/>
            <a:ext cx="4206240" cy="2377440"/>
          </a:xfrm>
          <a:prstGeom prst="rect">
            <a:avLst/>
          </a:prstGeom>
          <a:solidFill>
            <a:srgbClr val="1B2D45"/>
          </a:solidFill>
          <a:ln/>
        </p:spPr>
        <p:txBody>
          <a:bodyPr/>
          <a:lstStyle/>
          <a:p>
            <a:endParaRPr lang="en-US"/>
          </a:p>
        </p:txBody>
      </p:sp>
      <p:sp>
        <p:nvSpPr>
          <p:cNvPr id="6" name="Text 4"/>
          <p:cNvSpPr/>
          <p:nvPr/>
        </p:nvSpPr>
        <p:spPr>
          <a:xfrm>
            <a:off x="777240" y="1463040"/>
            <a:ext cx="3749040" cy="274320"/>
          </a:xfrm>
          <a:prstGeom prst="rect">
            <a:avLst/>
          </a:prstGeom>
          <a:noFill/>
          <a:ln/>
        </p:spPr>
        <p:txBody>
          <a:bodyPr wrap="square" lIns="0" tIns="0" rIns="0" bIns="0" rtlCol="0" anchor="ctr"/>
          <a:lstStyle/>
          <a:p>
            <a:pPr marL="0" indent="0">
              <a:buNone/>
            </a:pPr>
            <a:r>
              <a:rPr lang="en-US" sz="1100" dirty="0">
                <a:solidFill>
                  <a:srgbClr val="0ABAB5"/>
                </a:solidFill>
                <a:latin typeface="Consolas" pitchFamily="34" charset="0"/>
                <a:ea typeface="Consolas" pitchFamily="34" charset="-122"/>
                <a:cs typeface="Consolas" pitchFamily="34" charset="-120"/>
              </a:rPr>
              <a:t>.claude/ directory structure</a:t>
            </a:r>
            <a:endParaRPr lang="en-US" sz="1100" dirty="0"/>
          </a:p>
        </p:txBody>
      </p:sp>
      <p:sp>
        <p:nvSpPr>
          <p:cNvPr id="7" name="Text 5"/>
          <p:cNvSpPr/>
          <p:nvPr/>
        </p:nvSpPr>
        <p:spPr>
          <a:xfrm>
            <a:off x="777240" y="1783080"/>
            <a:ext cx="3749040" cy="1920240"/>
          </a:xfrm>
          <a:prstGeom prst="rect">
            <a:avLst/>
          </a:prstGeom>
          <a:noFill/>
          <a:ln/>
        </p:spPr>
        <p:txBody>
          <a:bodyPr wrap="square" lIns="0" tIns="0" rIns="0" bIns="0" rtlCol="0" anchor="ctr"/>
          <a:lstStyle/>
          <a:p>
            <a:pPr marL="0" indent="0">
              <a:buNone/>
            </a:pPr>
            <a:r>
              <a:rPr lang="en-US" sz="1000" dirty="0">
                <a:solidFill>
                  <a:srgbClr val="8A9BB5"/>
                </a:solidFill>
                <a:latin typeface="Consolas" pitchFamily="34" charset="0"/>
                <a:ea typeface="Consolas" pitchFamily="34" charset="-122"/>
                <a:cs typeface="Consolas" pitchFamily="34" charset="-120"/>
              </a:rPr>
              <a:t>.claude/</a:t>
            </a:r>
            <a:endParaRPr lang="en-US" sz="1000" dirty="0"/>
          </a:p>
          <a:p>
            <a:pPr marL="0" indent="0">
              <a:buNone/>
            </a:pPr>
            <a:r>
              <a:rPr lang="en-US" sz="1000" dirty="0">
                <a:solidFill>
                  <a:srgbClr val="8A9BB5"/>
                </a:solidFill>
                <a:latin typeface="Consolas" pitchFamily="34" charset="0"/>
                <a:ea typeface="Consolas" pitchFamily="34" charset="-122"/>
                <a:cs typeface="Consolas" pitchFamily="34" charset="-120"/>
              </a:rPr>
              <a:t>├── commands/             ← Session 2</a:t>
            </a:r>
            <a:endParaRPr lang="en-US" sz="1000" dirty="0"/>
          </a:p>
          <a:p>
            <a:pPr marL="0" indent="0">
              <a:buNone/>
            </a:pPr>
            <a:r>
              <a:rPr lang="en-US" sz="1000" dirty="0">
                <a:solidFill>
                  <a:srgbClr val="8A9BB5"/>
                </a:solidFill>
                <a:latin typeface="Consolas" pitchFamily="34" charset="0"/>
                <a:ea typeface="Consolas" pitchFamily="34" charset="-122"/>
                <a:cs typeface="Consolas" pitchFamily="34" charset="-120"/>
              </a:rPr>
              <a:t>│   ├── test-backend.md</a:t>
            </a:r>
            <a:endParaRPr lang="en-US" sz="1000" dirty="0"/>
          </a:p>
          <a:p>
            <a:pPr marL="0" indent="0">
              <a:buNone/>
            </a:pPr>
            <a:r>
              <a:rPr lang="en-US" sz="1000" dirty="0">
                <a:solidFill>
                  <a:srgbClr val="8A9BB5"/>
                </a:solidFill>
                <a:latin typeface="Consolas" pitchFamily="34" charset="0"/>
                <a:ea typeface="Consolas" pitchFamily="34" charset="-122"/>
                <a:cs typeface="Consolas" pitchFamily="34" charset="-120"/>
              </a:rPr>
              <a:t>│   └── review-file.md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rules/                ← Session 2 + 3</a:t>
            </a:r>
            <a:endParaRPr lang="en-US" sz="1000" dirty="0"/>
          </a:p>
          <a:p>
            <a:pPr marL="0" indent="0">
              <a:buNone/>
            </a:pPr>
            <a:r>
              <a:rPr lang="en-US" sz="1000" dirty="0">
                <a:solidFill>
                  <a:srgbClr val="8A9BB5"/>
                </a:solidFill>
                <a:latin typeface="Consolas" pitchFamily="34" charset="0"/>
                <a:ea typeface="Consolas" pitchFamily="34" charset="-122"/>
                <a:cs typeface="Consolas" pitchFamily="34" charset="-120"/>
              </a:rPr>
              <a:t>│   ├── testing.md        ← Session 2</a:t>
            </a:r>
            <a:endParaRPr lang="en-US" sz="1000" dirty="0"/>
          </a:p>
          <a:p>
            <a:pPr marL="0" indent="0">
              <a:buNone/>
            </a:pPr>
            <a:r>
              <a:rPr lang="en-US" sz="1000" dirty="0">
                <a:solidFill>
                  <a:srgbClr val="8A9BB5"/>
                </a:solidFill>
                <a:latin typeface="Consolas" pitchFamily="34" charset="0"/>
                <a:ea typeface="Consolas" pitchFamily="34" charset="-122"/>
                <a:cs typeface="Consolas" pitchFamily="34" charset="-120"/>
              </a:rPr>
              <a:t>│   ├── api-conventions.md</a:t>
            </a:r>
            <a:endParaRPr lang="en-US" sz="1000" dirty="0"/>
          </a:p>
          <a:p>
            <a:pPr marL="0" indent="0">
              <a:buNone/>
            </a:pPr>
            <a:r>
              <a:rPr lang="en-US" sz="1000" dirty="0">
                <a:solidFill>
                  <a:srgbClr val="0ABAB5"/>
                </a:solidFill>
                <a:latin typeface="Consolas" pitchFamily="34" charset="0"/>
                <a:ea typeface="Consolas" pitchFamily="34" charset="-122"/>
                <a:cs typeface="Consolas" pitchFamily="34" charset="-120"/>
              </a:rPr>
              <a:t>│   ├── frontend-patterns.md ← Manual</a:t>
            </a:r>
            <a:endParaRPr lang="en-US" sz="1000" dirty="0"/>
          </a:p>
          <a:p>
            <a:pPr marL="0" indent="0">
              <a:buNone/>
            </a:pPr>
            <a:r>
              <a:rPr lang="en-US" sz="1000" dirty="0">
                <a:solidFill>
                  <a:srgbClr val="F39C12"/>
                </a:solidFill>
                <a:latin typeface="Consolas" pitchFamily="34" charset="0"/>
                <a:ea typeface="Consolas" pitchFamily="34" charset="-122"/>
                <a:cs typeface="Consolas" pitchFamily="34" charset="-120"/>
              </a:rPr>
              <a:t>│   └── figma-design-system.md ← Generated</a:t>
            </a:r>
            <a:endParaRPr lang="en-US" sz="1000" dirty="0"/>
          </a:p>
          <a:p>
            <a:pPr marL="0" indent="0">
              <a:buNone/>
            </a:pPr>
            <a:r>
              <a:rPr lang="en-US" sz="1000" dirty="0">
                <a:solidFill>
                  <a:srgbClr val="8A9BB5"/>
                </a:solidFill>
                <a:latin typeface="Consolas" pitchFamily="34" charset="0"/>
                <a:ea typeface="Consolas" pitchFamily="34" charset="-122"/>
                <a:cs typeface="Consolas" pitchFamily="34" charset="-120"/>
              </a:rPr>
              <a:t>└── settings.json         ← Session 1</a:t>
            </a:r>
            <a:endParaRPr lang="en-US" sz="1000" dirty="0"/>
          </a:p>
        </p:txBody>
      </p:sp>
      <p:sp>
        <p:nvSpPr>
          <p:cNvPr id="8" name="Shape 6"/>
          <p:cNvSpPr/>
          <p:nvPr/>
        </p:nvSpPr>
        <p:spPr>
          <a:xfrm>
            <a:off x="5120640" y="1417320"/>
            <a:ext cx="3474720" cy="2377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7"/>
          <p:cNvSpPr/>
          <p:nvPr/>
        </p:nvSpPr>
        <p:spPr>
          <a:xfrm>
            <a:off x="5120640" y="1417320"/>
            <a:ext cx="3474720" cy="54864"/>
          </a:xfrm>
          <a:prstGeom prst="rect">
            <a:avLst/>
          </a:prstGeom>
          <a:solidFill>
            <a:srgbClr val="1E3A5F"/>
          </a:solidFill>
          <a:ln/>
        </p:spPr>
        <p:txBody>
          <a:bodyPr/>
          <a:lstStyle/>
          <a:p>
            <a:endParaRPr lang="en-US"/>
          </a:p>
        </p:txBody>
      </p:sp>
      <p:sp>
        <p:nvSpPr>
          <p:cNvPr id="10" name="Text 8"/>
          <p:cNvSpPr/>
          <p:nvPr/>
        </p:nvSpPr>
        <p:spPr>
          <a:xfrm>
            <a:off x="5349240" y="1536192"/>
            <a:ext cx="301752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What the Rules File Contains</a:t>
            </a:r>
            <a:endParaRPr lang="en-US" sz="1400" dirty="0"/>
          </a:p>
        </p:txBody>
      </p:sp>
      <p:sp>
        <p:nvSpPr>
          <p:cNvPr id="11" name="Shape 9"/>
          <p:cNvSpPr/>
          <p:nvPr/>
        </p:nvSpPr>
        <p:spPr>
          <a:xfrm>
            <a:off x="5349240" y="1938528"/>
            <a:ext cx="384048" cy="384048"/>
          </a:xfrm>
          <a:prstGeom prst="line">
            <a:avLst/>
          </a:prstGeom>
          <a:solidFill>
            <a:srgbClr val="0ABAB5"/>
          </a:solidFill>
          <a:ln/>
        </p:spPr>
        <p:txBody>
          <a:bodyPr/>
          <a:lstStyle/>
          <a:p>
            <a:endParaRPr lang="en-US"/>
          </a:p>
        </p:txBody>
      </p:sp>
      <p:sp>
        <p:nvSpPr>
          <p:cNvPr id="12" name="Text 10"/>
          <p:cNvSpPr/>
          <p:nvPr/>
        </p:nvSpPr>
        <p:spPr>
          <a:xfrm>
            <a:off x="5349240" y="19385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5833872" y="1920240"/>
            <a:ext cx="2514600" cy="27432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Color tokens &amp; semantic meanings</a:t>
            </a:r>
            <a:endParaRPr lang="en-US" sz="1100" dirty="0"/>
          </a:p>
        </p:txBody>
      </p:sp>
      <p:sp>
        <p:nvSpPr>
          <p:cNvPr id="14" name="Shape 12"/>
          <p:cNvSpPr/>
          <p:nvPr/>
        </p:nvSpPr>
        <p:spPr>
          <a:xfrm>
            <a:off x="5349240" y="2249424"/>
            <a:ext cx="384048" cy="384048"/>
          </a:xfrm>
          <a:prstGeom prst="line">
            <a:avLst/>
          </a:prstGeom>
          <a:solidFill>
            <a:srgbClr val="0ABAB5"/>
          </a:solidFill>
          <a:ln/>
        </p:spPr>
        <p:txBody>
          <a:bodyPr/>
          <a:lstStyle/>
          <a:p>
            <a:endParaRPr lang="en-US"/>
          </a:p>
        </p:txBody>
      </p:sp>
      <p:sp>
        <p:nvSpPr>
          <p:cNvPr id="15" name="Text 13"/>
          <p:cNvSpPr/>
          <p:nvPr/>
        </p:nvSpPr>
        <p:spPr>
          <a:xfrm>
            <a:off x="5349240" y="22494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5833872" y="2231136"/>
            <a:ext cx="2514600" cy="27432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Typography scales</a:t>
            </a:r>
            <a:endParaRPr lang="en-US" sz="1100" dirty="0"/>
          </a:p>
        </p:txBody>
      </p:sp>
      <p:sp>
        <p:nvSpPr>
          <p:cNvPr id="17" name="Shape 15"/>
          <p:cNvSpPr/>
          <p:nvPr/>
        </p:nvSpPr>
        <p:spPr>
          <a:xfrm>
            <a:off x="5349240" y="2560320"/>
            <a:ext cx="384048" cy="384048"/>
          </a:xfrm>
          <a:prstGeom prst="line">
            <a:avLst/>
          </a:prstGeom>
          <a:solidFill>
            <a:srgbClr val="0ABAB5"/>
          </a:solidFill>
          <a:ln/>
        </p:spPr>
        <p:txBody>
          <a:bodyPr/>
          <a:lstStyle/>
          <a:p>
            <a:endParaRPr lang="en-US"/>
          </a:p>
        </p:txBody>
      </p:sp>
      <p:sp>
        <p:nvSpPr>
          <p:cNvPr id="18" name="Text 16"/>
          <p:cNvSpPr/>
          <p:nvPr/>
        </p:nvSpPr>
        <p:spPr>
          <a:xfrm>
            <a:off x="5349240" y="25603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833872" y="2542032"/>
            <a:ext cx="2514600" cy="27432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Spacing conventions</a:t>
            </a:r>
            <a:endParaRPr lang="en-US" sz="1100" dirty="0"/>
          </a:p>
        </p:txBody>
      </p:sp>
      <p:sp>
        <p:nvSpPr>
          <p:cNvPr id="20" name="Shape 18"/>
          <p:cNvSpPr/>
          <p:nvPr/>
        </p:nvSpPr>
        <p:spPr>
          <a:xfrm>
            <a:off x="5349240" y="2871216"/>
            <a:ext cx="384048" cy="384048"/>
          </a:xfrm>
          <a:prstGeom prst="line">
            <a:avLst/>
          </a:prstGeom>
          <a:solidFill>
            <a:srgbClr val="1E3A5F"/>
          </a:solidFill>
          <a:ln/>
        </p:spPr>
        <p:txBody>
          <a:bodyPr/>
          <a:lstStyle/>
          <a:p>
            <a:endParaRPr lang="en-US"/>
          </a:p>
        </p:txBody>
      </p:sp>
      <p:sp>
        <p:nvSpPr>
          <p:cNvPr id="21" name="Text 19"/>
          <p:cNvSpPr/>
          <p:nvPr/>
        </p:nvSpPr>
        <p:spPr>
          <a:xfrm>
            <a:off x="5349240" y="2871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5833872" y="2852928"/>
            <a:ext cx="2514600" cy="27432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Component naming conventions</a:t>
            </a:r>
            <a:endParaRPr lang="en-US" sz="1100" dirty="0"/>
          </a:p>
        </p:txBody>
      </p:sp>
      <p:sp>
        <p:nvSpPr>
          <p:cNvPr id="23" name="Shape 21"/>
          <p:cNvSpPr/>
          <p:nvPr/>
        </p:nvSpPr>
        <p:spPr>
          <a:xfrm>
            <a:off x="5349240" y="3182112"/>
            <a:ext cx="384048" cy="384048"/>
          </a:xfrm>
          <a:prstGeom prst="line">
            <a:avLst/>
          </a:prstGeom>
          <a:solidFill>
            <a:srgbClr val="1E3A5F"/>
          </a:solidFill>
          <a:ln/>
        </p:spPr>
        <p:txBody>
          <a:bodyPr/>
          <a:lstStyle/>
          <a:p>
            <a:endParaRPr lang="en-US"/>
          </a:p>
        </p:txBody>
      </p:sp>
      <p:sp>
        <p:nvSpPr>
          <p:cNvPr id="24" name="Text 22"/>
          <p:cNvSpPr/>
          <p:nvPr/>
        </p:nvSpPr>
        <p:spPr>
          <a:xfrm>
            <a:off x="5349240" y="31821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5833872" y="3163824"/>
            <a:ext cx="2514600" cy="274320"/>
          </a:xfrm>
          <a:prstGeom prst="rect">
            <a:avLst/>
          </a:prstGeom>
          <a:noFill/>
          <a:ln/>
        </p:spPr>
        <p:txBody>
          <a:bodyPr wrap="square" lIns="0" tIns="0" rIns="0" bIns="0" rtlCol="0" anchor="ctr"/>
          <a:lstStyle/>
          <a:p>
            <a:pPr marL="0" indent="0">
              <a:buNone/>
            </a:pPr>
            <a:r>
              <a:rPr lang="en-US" sz="1100" dirty="0">
                <a:solidFill>
                  <a:srgbClr val="3B4F68"/>
                </a:solidFill>
                <a:latin typeface="Calibri" pitchFamily="34" charset="0"/>
                <a:ea typeface="Calibri" pitchFamily="34" charset="-122"/>
                <a:cs typeface="Calibri" pitchFamily="34" charset="-120"/>
              </a:rPr>
              <a:t>Framework-specific guidance</a:t>
            </a:r>
            <a:endParaRPr lang="en-US" sz="1100" dirty="0"/>
          </a:p>
        </p:txBody>
      </p:sp>
      <p:sp>
        <p:nvSpPr>
          <p:cNvPr id="26" name="Shape 24"/>
          <p:cNvSpPr/>
          <p:nvPr/>
        </p:nvSpPr>
        <p:spPr>
          <a:xfrm>
            <a:off x="5120640" y="3566160"/>
            <a:ext cx="3474720" cy="201168"/>
          </a:xfrm>
          <a:prstGeom prst="rect">
            <a:avLst/>
          </a:prstGeom>
          <a:solidFill>
            <a:srgbClr val="F7F9FB"/>
          </a:solidFill>
          <a:ln/>
        </p:spPr>
        <p:txBody>
          <a:bodyPr/>
          <a:lstStyle/>
          <a:p>
            <a:endParaRPr lang="en-US"/>
          </a:p>
        </p:txBody>
      </p:sp>
      <p:sp>
        <p:nvSpPr>
          <p:cNvPr id="27" name="Text 25"/>
          <p:cNvSpPr/>
          <p:nvPr/>
        </p:nvSpPr>
        <p:spPr>
          <a:xfrm>
            <a:off x="5349240" y="3566160"/>
            <a:ext cx="3017520" cy="201168"/>
          </a:xfrm>
          <a:prstGeom prst="rect">
            <a:avLst/>
          </a:prstGeom>
          <a:noFill/>
          <a:ln/>
        </p:spPr>
        <p:txBody>
          <a:bodyPr wrap="square" lIns="0" tIns="0" rIns="0" bIns="0" rtlCol="0" anchor="ctr"/>
          <a:lstStyle/>
          <a:p>
            <a:pPr marL="0" indent="0">
              <a:buNone/>
            </a:pPr>
            <a:r>
              <a:rPr lang="en-US" sz="950" i="1" dirty="0">
                <a:solidFill>
                  <a:srgbClr val="3B4F68"/>
                </a:solidFill>
                <a:latin typeface="Calibri" pitchFamily="34" charset="0"/>
                <a:ea typeface="Calibri" pitchFamily="34" charset="-122"/>
                <a:cs typeface="Calibri" pitchFamily="34" charset="-120"/>
              </a:rPr>
              <a:t>Content comes from codebase analysis, not Figma</a:t>
            </a:r>
            <a:endParaRPr lang="en-US" sz="950" dirty="0"/>
          </a:p>
        </p:txBody>
      </p:sp>
      <p:sp>
        <p:nvSpPr>
          <p:cNvPr id="28" name="Shape 26"/>
          <p:cNvSpPr/>
          <p:nvPr/>
        </p:nvSpPr>
        <p:spPr>
          <a:xfrm>
            <a:off x="0" y="4434840"/>
            <a:ext cx="9144000" cy="713232"/>
          </a:xfrm>
          <a:prstGeom prst="rect">
            <a:avLst/>
          </a:prstGeom>
          <a:solidFill>
            <a:srgbClr val="1E3A5F"/>
          </a:solidFill>
          <a:ln/>
        </p:spPr>
        <p:txBody>
          <a:bodyPr/>
          <a:lstStyle/>
          <a:p>
            <a:endParaRPr lang="en-US"/>
          </a:p>
        </p:txBody>
      </p:sp>
      <p:sp>
        <p:nvSpPr>
          <p:cNvPr id="29" name="Text 27"/>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Session 2: you wrote rules by hand. Session 3: the agent discovers conventions from your code.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The Bidirectional Pipeline</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Four workflows across your team</a:t>
            </a:r>
            <a:endParaRPr lang="en-US" sz="1500" dirty="0"/>
          </a:p>
        </p:txBody>
      </p:sp>
      <p:sp>
        <p:nvSpPr>
          <p:cNvPr id="5" name="Shape 3"/>
          <p:cNvSpPr/>
          <p:nvPr/>
        </p:nvSpPr>
        <p:spPr>
          <a:xfrm>
            <a:off x="548640" y="1371600"/>
            <a:ext cx="3840480" cy="12618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371600"/>
            <a:ext cx="54864" cy="1261872"/>
          </a:xfrm>
          <a:prstGeom prst="rect">
            <a:avLst/>
          </a:prstGeom>
          <a:solidFill>
            <a:srgbClr val="0ABAB5"/>
          </a:solidFill>
          <a:ln/>
        </p:spPr>
        <p:txBody>
          <a:bodyPr/>
          <a:lstStyle/>
          <a:p>
            <a:endParaRPr lang="en-US"/>
          </a:p>
        </p:txBody>
      </p:sp>
      <p:sp>
        <p:nvSpPr>
          <p:cNvPr id="7" name="Shape 5"/>
          <p:cNvSpPr/>
          <p:nvPr/>
        </p:nvSpPr>
        <p:spPr>
          <a:xfrm>
            <a:off x="731520" y="1508760"/>
            <a:ext cx="384048" cy="384048"/>
          </a:xfrm>
          <a:prstGeom prst="line">
            <a:avLst/>
          </a:prstGeom>
          <a:solidFill>
            <a:srgbClr val="0ABAB5"/>
          </a:solidFill>
          <a:ln/>
        </p:spPr>
        <p:txBody>
          <a:bodyPr/>
          <a:lstStyle/>
          <a:p>
            <a:endParaRPr lang="en-US"/>
          </a:p>
        </p:txBody>
      </p:sp>
      <p:sp>
        <p:nvSpPr>
          <p:cNvPr id="8" name="Text 6"/>
          <p:cNvSpPr/>
          <p:nvPr/>
        </p:nvSpPr>
        <p:spPr>
          <a:xfrm>
            <a:off x="731520" y="1508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07008" y="1481328"/>
            <a:ext cx="2286000" cy="25603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Design-First</a:t>
            </a:r>
            <a:endParaRPr lang="en-US" sz="1400" dirty="0"/>
          </a:p>
        </p:txBody>
      </p:sp>
      <p:sp>
        <p:nvSpPr>
          <p:cNvPr id="10" name="Text 8"/>
          <p:cNvSpPr/>
          <p:nvPr/>
        </p:nvSpPr>
        <p:spPr>
          <a:xfrm>
            <a:off x="1207008" y="1719072"/>
            <a:ext cx="2743200" cy="201168"/>
          </a:xfrm>
          <a:prstGeom prst="rect">
            <a:avLst/>
          </a:prstGeom>
          <a:noFill/>
          <a:ln/>
        </p:spPr>
        <p:txBody>
          <a:bodyPr wrap="square" lIns="0" tIns="0" rIns="0" bIns="0" rtlCol="0" anchor="ctr"/>
          <a:lstStyle/>
          <a:p>
            <a:pPr marL="0" indent="0">
              <a:buNone/>
            </a:pPr>
            <a:r>
              <a:rPr lang="en-US" sz="1000" dirty="0">
                <a:solidFill>
                  <a:srgbClr val="0ABAB5"/>
                </a:solidFill>
                <a:latin typeface="Consolas" pitchFamily="34" charset="0"/>
                <a:ea typeface="Consolas" pitchFamily="34" charset="-122"/>
                <a:cs typeface="Consolas" pitchFamily="34" charset="-120"/>
              </a:rPr>
              <a:t>Figma → Code</a:t>
            </a:r>
            <a:endParaRPr lang="en-US" sz="1000" dirty="0"/>
          </a:p>
        </p:txBody>
      </p:sp>
      <p:sp>
        <p:nvSpPr>
          <p:cNvPr id="11" name="Text 9"/>
          <p:cNvSpPr/>
          <p:nvPr/>
        </p:nvSpPr>
        <p:spPr>
          <a:xfrm>
            <a:off x="731520" y="1965960"/>
            <a:ext cx="3474720" cy="594360"/>
          </a:xfrm>
          <a:prstGeom prst="rect">
            <a:avLst/>
          </a:prstGeom>
          <a:noFill/>
          <a:ln/>
        </p:spPr>
        <p:txBody>
          <a:bodyPr wrap="square" lIns="0" tIns="0" rIns="0" bIns="0" rtlCol="0" anchor="ctr"/>
          <a:lstStyle/>
          <a:p>
            <a:pPr marL="0" indent="0">
              <a:buNone/>
            </a:pPr>
            <a:r>
              <a:rPr lang="en-US" sz="1050" dirty="0">
                <a:solidFill>
                  <a:srgbClr val="3B4F68"/>
                </a:solidFill>
                <a:latin typeface="Calibri" pitchFamily="34" charset="0"/>
                <a:ea typeface="Calibri" pitchFamily="34" charset="-122"/>
                <a:cs typeface="Calibri" pitchFamily="34" charset="-120"/>
              </a:rPr>
              <a:t>Designer creates mockup → MCP → Claude generates code using your component library</a:t>
            </a:r>
            <a:endParaRPr lang="en-US" sz="1050" dirty="0"/>
          </a:p>
        </p:txBody>
      </p:sp>
      <p:sp>
        <p:nvSpPr>
          <p:cNvPr id="12" name="Shape 10"/>
          <p:cNvSpPr/>
          <p:nvPr/>
        </p:nvSpPr>
        <p:spPr>
          <a:xfrm>
            <a:off x="4754880" y="1371600"/>
            <a:ext cx="3840480" cy="12618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1"/>
          <p:cNvSpPr/>
          <p:nvPr/>
        </p:nvSpPr>
        <p:spPr>
          <a:xfrm>
            <a:off x="4754880" y="1371600"/>
            <a:ext cx="54864" cy="1261872"/>
          </a:xfrm>
          <a:prstGeom prst="rect">
            <a:avLst/>
          </a:prstGeom>
          <a:solidFill>
            <a:srgbClr val="F39C12"/>
          </a:solidFill>
          <a:ln/>
        </p:spPr>
        <p:txBody>
          <a:bodyPr/>
          <a:lstStyle/>
          <a:p>
            <a:endParaRPr lang="en-US"/>
          </a:p>
        </p:txBody>
      </p:sp>
      <p:sp>
        <p:nvSpPr>
          <p:cNvPr id="14" name="Shape 12"/>
          <p:cNvSpPr/>
          <p:nvPr/>
        </p:nvSpPr>
        <p:spPr>
          <a:xfrm>
            <a:off x="4937760" y="1508760"/>
            <a:ext cx="384048" cy="384048"/>
          </a:xfrm>
          <a:prstGeom prst="line">
            <a:avLst/>
          </a:prstGeom>
          <a:solidFill>
            <a:srgbClr val="F39C12"/>
          </a:solidFill>
          <a:ln/>
        </p:spPr>
        <p:txBody>
          <a:bodyPr/>
          <a:lstStyle/>
          <a:p>
            <a:endParaRPr lang="en-US"/>
          </a:p>
        </p:txBody>
      </p:sp>
      <p:sp>
        <p:nvSpPr>
          <p:cNvPr id="15" name="Text 13"/>
          <p:cNvSpPr/>
          <p:nvPr/>
        </p:nvSpPr>
        <p:spPr>
          <a:xfrm>
            <a:off x="4937760" y="1508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5413248" y="1481328"/>
            <a:ext cx="2286000" cy="25603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Code-First</a:t>
            </a:r>
            <a:endParaRPr lang="en-US" sz="1400" dirty="0"/>
          </a:p>
        </p:txBody>
      </p:sp>
      <p:sp>
        <p:nvSpPr>
          <p:cNvPr id="17" name="Text 15"/>
          <p:cNvSpPr/>
          <p:nvPr/>
        </p:nvSpPr>
        <p:spPr>
          <a:xfrm>
            <a:off x="5413248" y="1719072"/>
            <a:ext cx="2743200" cy="201168"/>
          </a:xfrm>
          <a:prstGeom prst="rect">
            <a:avLst/>
          </a:prstGeom>
          <a:noFill/>
          <a:ln/>
        </p:spPr>
        <p:txBody>
          <a:bodyPr wrap="square" lIns="0" tIns="0" rIns="0" bIns="0" rtlCol="0" anchor="ctr"/>
          <a:lstStyle/>
          <a:p>
            <a:pPr marL="0" indent="0">
              <a:buNone/>
            </a:pPr>
            <a:r>
              <a:rPr lang="en-US" sz="1000" dirty="0">
                <a:solidFill>
                  <a:srgbClr val="F39C12"/>
                </a:solidFill>
                <a:latin typeface="Consolas" pitchFamily="34" charset="0"/>
                <a:ea typeface="Consolas" pitchFamily="34" charset="-122"/>
                <a:cs typeface="Consolas" pitchFamily="34" charset="-120"/>
              </a:rPr>
              <a:t>Code → Canvas → Refined Design</a:t>
            </a:r>
            <a:endParaRPr lang="en-US" sz="1000" dirty="0"/>
          </a:p>
        </p:txBody>
      </p:sp>
      <p:sp>
        <p:nvSpPr>
          <p:cNvPr id="18" name="Text 16"/>
          <p:cNvSpPr/>
          <p:nvPr/>
        </p:nvSpPr>
        <p:spPr>
          <a:xfrm>
            <a:off x="4937760" y="1965960"/>
            <a:ext cx="3474720" cy="594360"/>
          </a:xfrm>
          <a:prstGeom prst="rect">
            <a:avLst/>
          </a:prstGeom>
          <a:noFill/>
          <a:ln/>
        </p:spPr>
        <p:txBody>
          <a:bodyPr wrap="square" lIns="0" tIns="0" rIns="0" bIns="0" rtlCol="0" anchor="ctr"/>
          <a:lstStyle/>
          <a:p>
            <a:pPr marL="0" indent="0">
              <a:buNone/>
            </a:pPr>
            <a:r>
              <a:rPr lang="en-US" sz="1050" dirty="0">
                <a:solidFill>
                  <a:srgbClr val="3B4F68"/>
                </a:solidFill>
                <a:latin typeface="Calibri" pitchFamily="34" charset="0"/>
                <a:ea typeface="Calibri" pitchFamily="34" charset="-122"/>
                <a:cs typeface="Calibri" pitchFamily="34" charset="-120"/>
              </a:rPr>
              <a:t>Developer builds UI → "Send to Figma" → Designer refines → Pull changes back via MCP</a:t>
            </a:r>
            <a:endParaRPr lang="en-US" sz="1050" dirty="0"/>
          </a:p>
        </p:txBody>
      </p:sp>
      <p:sp>
        <p:nvSpPr>
          <p:cNvPr id="19" name="Shape 17"/>
          <p:cNvSpPr/>
          <p:nvPr/>
        </p:nvSpPr>
        <p:spPr>
          <a:xfrm>
            <a:off x="548640" y="2788920"/>
            <a:ext cx="3840480" cy="12618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0" name="Shape 18"/>
          <p:cNvSpPr/>
          <p:nvPr/>
        </p:nvSpPr>
        <p:spPr>
          <a:xfrm>
            <a:off x="548640" y="2788920"/>
            <a:ext cx="54864" cy="1261872"/>
          </a:xfrm>
          <a:prstGeom prst="rect">
            <a:avLst/>
          </a:prstGeom>
          <a:solidFill>
            <a:srgbClr val="1E3A5F"/>
          </a:solidFill>
          <a:ln/>
        </p:spPr>
        <p:txBody>
          <a:bodyPr/>
          <a:lstStyle/>
          <a:p>
            <a:endParaRPr lang="en-US"/>
          </a:p>
        </p:txBody>
      </p:sp>
      <p:sp>
        <p:nvSpPr>
          <p:cNvPr id="21" name="Shape 19"/>
          <p:cNvSpPr/>
          <p:nvPr/>
        </p:nvSpPr>
        <p:spPr>
          <a:xfrm>
            <a:off x="731520" y="2926080"/>
            <a:ext cx="384048" cy="384048"/>
          </a:xfrm>
          <a:prstGeom prst="line">
            <a:avLst/>
          </a:prstGeom>
          <a:solidFill>
            <a:srgbClr val="1E3A5F"/>
          </a:solidFill>
          <a:ln/>
        </p:spPr>
        <p:txBody>
          <a:bodyPr/>
          <a:lstStyle/>
          <a:p>
            <a:endParaRPr lang="en-US"/>
          </a:p>
        </p:txBody>
      </p:sp>
      <p:sp>
        <p:nvSpPr>
          <p:cNvPr id="22" name="Text 20"/>
          <p:cNvSpPr/>
          <p:nvPr/>
        </p:nvSpPr>
        <p:spPr>
          <a:xfrm>
            <a:off x="731520"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1207008" y="2898648"/>
            <a:ext cx="2286000" cy="25603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Planning to Implementation</a:t>
            </a:r>
            <a:endParaRPr lang="en-US" sz="1400" dirty="0"/>
          </a:p>
        </p:txBody>
      </p:sp>
      <p:sp>
        <p:nvSpPr>
          <p:cNvPr id="24" name="Text 22"/>
          <p:cNvSpPr/>
          <p:nvPr/>
        </p:nvSpPr>
        <p:spPr>
          <a:xfrm>
            <a:off x="1207008" y="3136392"/>
            <a:ext cx="2743200" cy="201168"/>
          </a:xfrm>
          <a:prstGeom prst="rect">
            <a:avLst/>
          </a:prstGeom>
          <a:noFill/>
          <a:ln/>
        </p:spPr>
        <p:txBody>
          <a:bodyPr wrap="square" lIns="0" tIns="0" rIns="0" bIns="0" rtlCol="0" anchor="ctr"/>
          <a:lstStyle/>
          <a:p>
            <a:pPr marL="0" indent="0">
              <a:buNone/>
            </a:pPr>
            <a:r>
              <a:rPr lang="en-US" sz="1000" dirty="0">
                <a:solidFill>
                  <a:srgbClr val="1E3A5F"/>
                </a:solidFill>
                <a:latin typeface="Consolas" pitchFamily="34" charset="0"/>
                <a:ea typeface="Consolas" pitchFamily="34" charset="-122"/>
                <a:cs typeface="Consolas" pitchFamily="34" charset="-120"/>
              </a:rPr>
              <a:t>FigJam → Code</a:t>
            </a:r>
            <a:endParaRPr lang="en-US" sz="1000" dirty="0"/>
          </a:p>
        </p:txBody>
      </p:sp>
      <p:sp>
        <p:nvSpPr>
          <p:cNvPr id="25" name="Text 23"/>
          <p:cNvSpPr/>
          <p:nvPr/>
        </p:nvSpPr>
        <p:spPr>
          <a:xfrm>
            <a:off x="731520" y="3383280"/>
            <a:ext cx="3474720" cy="594360"/>
          </a:xfrm>
          <a:prstGeom prst="rect">
            <a:avLst/>
          </a:prstGeom>
          <a:noFill/>
          <a:ln/>
        </p:spPr>
        <p:txBody>
          <a:bodyPr wrap="square" lIns="0" tIns="0" rIns="0" bIns="0" rtlCol="0" anchor="ctr"/>
          <a:lstStyle/>
          <a:p>
            <a:pPr marL="0" indent="0">
              <a:buNone/>
            </a:pPr>
            <a:r>
              <a:rPr lang="en-US" sz="1050" dirty="0">
                <a:solidFill>
                  <a:srgbClr val="3B4F68"/>
                </a:solidFill>
                <a:latin typeface="Calibri" pitchFamily="34" charset="0"/>
                <a:ea typeface="Calibri" pitchFamily="34" charset="-122"/>
                <a:cs typeface="Calibri" pitchFamily="34" charset="-120"/>
              </a:rPr>
              <a:t>PM creates diagram in FigJam → get_figjam → Claude generates code following the flow</a:t>
            </a:r>
            <a:endParaRPr lang="en-US" sz="1050" dirty="0"/>
          </a:p>
        </p:txBody>
      </p:sp>
      <p:sp>
        <p:nvSpPr>
          <p:cNvPr id="26" name="Shape 24"/>
          <p:cNvSpPr/>
          <p:nvPr/>
        </p:nvSpPr>
        <p:spPr>
          <a:xfrm>
            <a:off x="4754880" y="2788920"/>
            <a:ext cx="3840480" cy="12618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7" name="Shape 25"/>
          <p:cNvSpPr/>
          <p:nvPr/>
        </p:nvSpPr>
        <p:spPr>
          <a:xfrm>
            <a:off x="4754880" y="2788920"/>
            <a:ext cx="54864" cy="1261872"/>
          </a:xfrm>
          <a:prstGeom prst="rect">
            <a:avLst/>
          </a:prstGeom>
          <a:solidFill>
            <a:srgbClr val="3498DB"/>
          </a:solidFill>
          <a:ln/>
        </p:spPr>
        <p:txBody>
          <a:bodyPr/>
          <a:lstStyle/>
          <a:p>
            <a:endParaRPr lang="en-US"/>
          </a:p>
        </p:txBody>
      </p:sp>
      <p:sp>
        <p:nvSpPr>
          <p:cNvPr id="28" name="Shape 26"/>
          <p:cNvSpPr/>
          <p:nvPr/>
        </p:nvSpPr>
        <p:spPr>
          <a:xfrm>
            <a:off x="4937760" y="2926080"/>
            <a:ext cx="384048" cy="384048"/>
          </a:xfrm>
          <a:prstGeom prst="line">
            <a:avLst/>
          </a:prstGeom>
          <a:solidFill>
            <a:srgbClr val="3498DB"/>
          </a:solidFill>
          <a:ln/>
        </p:spPr>
        <p:txBody>
          <a:bodyPr/>
          <a:lstStyle/>
          <a:p>
            <a:endParaRPr lang="en-US"/>
          </a:p>
        </p:txBody>
      </p:sp>
      <p:sp>
        <p:nvSpPr>
          <p:cNvPr id="29" name="Text 27"/>
          <p:cNvSpPr/>
          <p:nvPr/>
        </p:nvSpPr>
        <p:spPr>
          <a:xfrm>
            <a:off x="4937760"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p:nvPr/>
        </p:nvSpPr>
        <p:spPr>
          <a:xfrm>
            <a:off x="5413248" y="2898648"/>
            <a:ext cx="2286000" cy="256032"/>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Token Synchronization</a:t>
            </a:r>
            <a:endParaRPr lang="en-US" sz="1400" dirty="0"/>
          </a:p>
        </p:txBody>
      </p:sp>
      <p:sp>
        <p:nvSpPr>
          <p:cNvPr id="31" name="Text 29"/>
          <p:cNvSpPr/>
          <p:nvPr/>
        </p:nvSpPr>
        <p:spPr>
          <a:xfrm>
            <a:off x="5413248" y="3136392"/>
            <a:ext cx="2743200" cy="201168"/>
          </a:xfrm>
          <a:prstGeom prst="rect">
            <a:avLst/>
          </a:prstGeom>
          <a:noFill/>
          <a:ln/>
        </p:spPr>
        <p:txBody>
          <a:bodyPr wrap="square" lIns="0" tIns="0" rIns="0" bIns="0" rtlCol="0" anchor="ctr"/>
          <a:lstStyle/>
          <a:p>
            <a:pPr marL="0" indent="0">
              <a:buNone/>
            </a:pPr>
            <a:r>
              <a:rPr lang="en-US" sz="1000" dirty="0">
                <a:solidFill>
                  <a:srgbClr val="3498DB"/>
                </a:solidFill>
                <a:latin typeface="Consolas" pitchFamily="34" charset="0"/>
                <a:ea typeface="Consolas" pitchFamily="34" charset="-122"/>
                <a:cs typeface="Consolas" pitchFamily="34" charset="-120"/>
              </a:rPr>
              <a:t>Design ↔ Code</a:t>
            </a:r>
            <a:endParaRPr lang="en-US" sz="1000" dirty="0"/>
          </a:p>
        </p:txBody>
      </p:sp>
      <p:sp>
        <p:nvSpPr>
          <p:cNvPr id="32" name="Text 30"/>
          <p:cNvSpPr/>
          <p:nvPr/>
        </p:nvSpPr>
        <p:spPr>
          <a:xfrm>
            <a:off x="4937760" y="3383280"/>
            <a:ext cx="3474720" cy="594360"/>
          </a:xfrm>
          <a:prstGeom prst="rect">
            <a:avLst/>
          </a:prstGeom>
          <a:noFill/>
          <a:ln/>
        </p:spPr>
        <p:txBody>
          <a:bodyPr wrap="square" lIns="0" tIns="0" rIns="0" bIns="0" rtlCol="0" anchor="ctr"/>
          <a:lstStyle/>
          <a:p>
            <a:pPr marL="0" indent="0">
              <a:buNone/>
            </a:pPr>
            <a:r>
              <a:rPr lang="en-US" sz="1050" dirty="0">
                <a:solidFill>
                  <a:srgbClr val="3B4F68"/>
                </a:solidFill>
                <a:latin typeface="Calibri" pitchFamily="34" charset="0"/>
                <a:ea typeface="Calibri" pitchFamily="34" charset="-122"/>
                <a:cs typeface="Calibri" pitchFamily="34" charset="-120"/>
              </a:rPr>
              <a:t>Designer updates Figma variables → get_variable_defs → CSS/SCSS update → Hook runs tests</a:t>
            </a:r>
            <a:endParaRPr lang="en-US" sz="1050" dirty="0"/>
          </a:p>
        </p:txBody>
      </p:sp>
      <p:sp>
        <p:nvSpPr>
          <p:cNvPr id="33" name="Shape 31"/>
          <p:cNvSpPr/>
          <p:nvPr/>
        </p:nvSpPr>
        <p:spPr>
          <a:xfrm>
            <a:off x="0" y="4434840"/>
            <a:ext cx="9144000" cy="713232"/>
          </a:xfrm>
          <a:prstGeom prst="rect">
            <a:avLst/>
          </a:prstGeom>
          <a:solidFill>
            <a:srgbClr val="1E3A5F"/>
          </a:solidFill>
          <a:ln/>
        </p:spPr>
        <p:txBody>
          <a:bodyPr/>
          <a:lstStyle/>
          <a:p>
            <a:endParaRPr lang="en-US"/>
          </a:p>
        </p:txBody>
      </p:sp>
      <p:sp>
        <p:nvSpPr>
          <p:cNvPr id="34" name="Text 32"/>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Session 2’s PostToolUse hooks integrate here — auto-run tests when tokens update.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Known Limitations (1/2)</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Honest expectations prevent frustration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2432304"/>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Limitation</a:t>
                      </a:r>
                      <a:endParaRPr lang="en-US" sz="105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Impact</a:t>
                      </a:r>
                      <a:endParaRPr lang="en-US" sz="105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Workaround</a:t>
                      </a:r>
                      <a:endParaRPr lang="en-US" sz="105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No live sync</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Code to Canvas is one-time capture</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Re-send after significant changes</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Business logic lost</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Frames lack handlers, state, APIs</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Treat Figma as visual reference only</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Frames lack design system</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No token values or component states</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Manually connect to design system</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Connection instability</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MCP drops on file/app switch</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Restart Claude Code; use http transport</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Default React + Tailwind</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get_design_context assumes wrong stack</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Always specify your stack in rules file</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0" y="4434840"/>
            <a:ext cx="9144000" cy="713232"/>
          </a:xfrm>
          <a:prstGeom prst="rect">
            <a:avLst/>
          </a:prstGeom>
          <a:solidFill>
            <a:srgbClr val="1E3A5F"/>
          </a:solidFill>
          <a:ln/>
        </p:spPr>
        <p:txBody>
          <a:bodyPr/>
          <a:lstStyle/>
          <a:p>
            <a:endParaRPr lang="en-US"/>
          </a:p>
        </p:txBody>
      </p:sp>
      <p:sp>
        <p:nvSpPr>
          <p:cNvPr id="7" name="Text 4"/>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More limitations than earlier sessions — this ecosystem spans multiple products.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ECF0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lIns="0" tIns="0" rIns="0" bIns="0" rtlCol="0" anchor="ctr"/>
          <a:lstStyle/>
          <a:p>
            <a:pPr marL="0" indent="0" algn="l">
              <a:buNone/>
            </a:pPr>
            <a:r>
              <a:rPr lang="en-US" sz="3600" b="1" dirty="0">
                <a:solidFill>
                  <a:srgbClr val="1E3A5F"/>
                </a:solidFill>
                <a:latin typeface="Arial" pitchFamily="34" charset="0"/>
                <a:ea typeface="Arial" pitchFamily="34" charset="-122"/>
                <a:cs typeface="Arial" pitchFamily="34" charset="-120"/>
              </a:rPr>
              <a:t>Known Limitations (2/2)</a:t>
            </a:r>
            <a:endParaRPr lang="en-US" sz="3600" dirty="0"/>
          </a:p>
        </p:txBody>
      </p:sp>
      <p:sp>
        <p:nvSpPr>
          <p:cNvPr id="4" name="Text 2"/>
          <p:cNvSpPr/>
          <p:nvPr/>
        </p:nvSpPr>
        <p:spPr>
          <a:xfrm>
            <a:off x="548640" y="868680"/>
            <a:ext cx="8046720" cy="365760"/>
          </a:xfrm>
          <a:prstGeom prst="rect">
            <a:avLst/>
          </a:prstGeom>
          <a:noFill/>
          <a:ln/>
        </p:spPr>
        <p:txBody>
          <a:bodyPr wrap="square" lIns="0" tIns="0" rIns="0" bIns="0" rtlCol="0" anchor="ctr"/>
          <a:lstStyle/>
          <a:p>
            <a:pPr marL="0" indent="0" algn="l">
              <a:buNone/>
            </a:pPr>
            <a:r>
              <a:rPr lang="en-US" sz="1500" i="1" dirty="0">
                <a:solidFill>
                  <a:srgbClr val="0ABAB5"/>
                </a:solidFill>
                <a:latin typeface="Calibri" pitchFamily="34" charset="0"/>
                <a:ea typeface="Calibri" pitchFamily="34" charset="-122"/>
                <a:cs typeface="Calibri" pitchFamily="34" charset="-120"/>
              </a:rPr>
              <a:t>Plan requirements and practical constraints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2432304"/>
        </p:xfrm>
        <a:graphic>
          <a:graphicData uri="http://schemas.openxmlformats.org/drawingml/2006/table">
            <a:tbl>
              <a:tblPr/>
              <a:tblGrid>
                <a:gridCol w="24688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Limitation</a:t>
                      </a:r>
                      <a:endParaRPr lang="en-US" sz="105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Impact</a:t>
                      </a:r>
                      <a:endParaRPr lang="en-US" sz="105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  Workaround</a:t>
                      </a:r>
                      <a:endParaRPr lang="en-US" sz="105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Starter: 6 calls/month</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Severe constraint for Remote MCP</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Upgrade to paid Figma plan</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Code Connect: Org/Enterprise</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Not available to smaller teams</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Use add_code_connect_map manually</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FigJam files public until claimed</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Anyone with the link can view</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Claim files promptly after generation</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Variables required for tokens</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No Variables = empty get_variable_defs</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Work with designer to set up Variables</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000" b="1" dirty="0">
                          <a:solidFill>
                            <a:srgbClr val="1E3A5F"/>
                          </a:solidFill>
                          <a:latin typeface="Calibri" pitchFamily="34" charset="0"/>
                          <a:ea typeface="Calibri" pitchFamily="34" charset="-122"/>
                          <a:cs typeface="Calibri" pitchFamily="34" charset="-120"/>
                        </a:rPr>
                        <a:t>  generate_figma_design: Remote only</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Code to Canvas needs Remote MCP</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tc>
                  <a:txBody>
                    <a:bodyPr/>
                    <a:lstStyle/>
                    <a:p>
                      <a:pPr marL="0" indent="0">
                        <a:buNone/>
                      </a:pPr>
                      <a:r>
                        <a:rPr lang="en-US" sz="1000" dirty="0">
                          <a:solidFill>
                            <a:srgbClr val="3B4F68"/>
                          </a:solidFill>
                          <a:latin typeface="Calibri" pitchFamily="34" charset="0"/>
                          <a:ea typeface="Calibri" pitchFamily="34" charset="-122"/>
                          <a:cs typeface="Calibri" pitchFamily="34" charset="-120"/>
                        </a:rPr>
                        <a:t>Use Remote for write, Desktop for read</a:t>
                      </a:r>
                      <a:endParaRPr lang="en-US" sz="1000" dirty="0">
                        <a:latin typeface="Calibri" charset="0"/>
                        <a:ea typeface="Calibri" charset="0"/>
                        <a:cs typeface="Calibri" charset="0"/>
                      </a:endParaRPr>
                    </a:p>
                  </a:txBody>
                  <a:tcP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0" y="4434840"/>
            <a:ext cx="9144000" cy="713232"/>
          </a:xfrm>
          <a:prstGeom prst="rect">
            <a:avLst/>
          </a:prstGeom>
          <a:solidFill>
            <a:srgbClr val="1E3A5F"/>
          </a:solidFill>
          <a:ln/>
        </p:spPr>
        <p:txBody>
          <a:bodyPr/>
          <a:lstStyle/>
          <a:p>
            <a:endParaRPr lang="en-US"/>
          </a:p>
        </p:txBody>
      </p:sp>
      <p:sp>
        <p:nvSpPr>
          <p:cNvPr id="7" name="Text 4"/>
          <p:cNvSpPr/>
          <p:nvPr/>
        </p:nvSpPr>
        <p:spPr>
          <a:xfrm>
            <a:off x="548640" y="4434840"/>
            <a:ext cx="8046720" cy="713232"/>
          </a:xfrm>
          <a:prstGeom prst="rect">
            <a:avLst/>
          </a:prstGeom>
          <a:noFill/>
          <a:ln/>
        </p:spPr>
        <p:txBody>
          <a:bodyPr wrap="square" lIns="0" tIns="0" rIns="0" bIns="0" rtlCol="0" anchor="ctr"/>
          <a:lstStyle/>
          <a:p>
            <a:pPr marL="0" indent="0" algn="ctr">
              <a:buNone/>
            </a:pPr>
            <a:r>
              <a:rPr lang="en-US" sz="1300" b="1" dirty="0">
                <a:solidFill>
                  <a:srgbClr val="0ABAB5"/>
                </a:solidFill>
                <a:latin typeface="Calibri" pitchFamily="34" charset="0"/>
                <a:ea typeface="Calibri" pitchFamily="34" charset="-122"/>
                <a:cs typeface="Calibri" pitchFamily="34" charset="-120"/>
              </a:rPr>
              <a:t>get_design_context works across all plans and reads visual properties directly from the frame.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BAB5"/>
          </a:solidFill>
          <a:ln/>
        </p:spPr>
        <p:txBody>
          <a:bodyPr/>
          <a:lstStyle/>
          <a:p>
            <a:endParaRPr lang="en-US"/>
          </a:p>
        </p:txBody>
      </p:sp>
      <p:sp>
        <p:nvSpPr>
          <p:cNvPr id="3" name="Text 1"/>
          <p:cNvSpPr/>
          <p:nvPr/>
        </p:nvSpPr>
        <p:spPr>
          <a:xfrm>
            <a:off x="548640" y="228600"/>
            <a:ext cx="8046720" cy="594360"/>
          </a:xfrm>
          <a:prstGeom prst="rect">
            <a:avLst/>
          </a:prstGeom>
          <a:noFill/>
          <a:ln/>
        </p:spPr>
        <p:txBody>
          <a:bodyPr wrap="square" lIns="0" tIns="0" rIns="0" bIns="0" rtlCol="0" anchor="ctr"/>
          <a:lstStyle/>
          <a:p>
            <a:pPr marL="0" indent="0" algn="l">
              <a:buNone/>
            </a:pPr>
            <a:r>
              <a:rPr lang="en-US" sz="3800" b="1" dirty="0">
                <a:solidFill>
                  <a:srgbClr val="FFFFFF"/>
                </a:solidFill>
                <a:latin typeface="Arial" pitchFamily="34" charset="0"/>
                <a:ea typeface="Arial" pitchFamily="34" charset="-122"/>
                <a:cs typeface="Arial" pitchFamily="34" charset="-120"/>
              </a:rPr>
              <a:t>Summary</a:t>
            </a:r>
            <a:endParaRPr lang="en-US" sz="3800" dirty="0"/>
          </a:p>
        </p:txBody>
      </p:sp>
      <p:sp>
        <p:nvSpPr>
          <p:cNvPr id="4" name="Text 2"/>
          <p:cNvSpPr/>
          <p:nvPr/>
        </p:nvSpPr>
        <p:spPr>
          <a:xfrm>
            <a:off x="548640" y="960120"/>
            <a:ext cx="411480" cy="457200"/>
          </a:xfrm>
          <a:prstGeom prst="rect">
            <a:avLst/>
          </a:prstGeom>
          <a:noFill/>
          <a:ln/>
        </p:spPr>
        <p:txBody>
          <a:bodyPr wrap="square" lIns="0" tIns="0" rIns="0" bIns="0" rtlCol="0" anchor="t"/>
          <a:lstStyle/>
          <a:p>
            <a:pPr marL="0" indent="0">
              <a:buNone/>
            </a:pPr>
            <a:r>
              <a:rPr lang="en-US" sz="2600" b="1" dirty="0">
                <a:solidFill>
                  <a:srgbClr val="0ABAB5"/>
                </a:solidFill>
                <a:latin typeface="Arial" pitchFamily="34" charset="0"/>
                <a:ea typeface="Arial" pitchFamily="34" charset="-122"/>
                <a:cs typeface="Arial" pitchFamily="34" charset="-120"/>
              </a:rPr>
              <a:t>1</a:t>
            </a:r>
            <a:endParaRPr lang="en-US" sz="2600" dirty="0"/>
          </a:p>
        </p:txBody>
      </p:sp>
      <p:sp>
        <p:nvSpPr>
          <p:cNvPr id="5" name="Text 3"/>
          <p:cNvSpPr/>
          <p:nvPr/>
        </p:nvSpPr>
        <p:spPr>
          <a:xfrm>
            <a:off x="1051560" y="960120"/>
            <a:ext cx="74980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Figma Connector = no-terminal entry point</a:t>
            </a:r>
            <a:endParaRPr lang="en-US" sz="1500" dirty="0"/>
          </a:p>
        </p:txBody>
      </p:sp>
      <p:sp>
        <p:nvSpPr>
          <p:cNvPr id="6" name="Text 4"/>
          <p:cNvSpPr/>
          <p:nvPr/>
        </p:nvSpPr>
        <p:spPr>
          <a:xfrm>
            <a:off x="1051560" y="1234440"/>
            <a:ext cx="7498080" cy="256032"/>
          </a:xfrm>
          <a:prstGeom prst="rect">
            <a:avLst/>
          </a:prstGeom>
          <a:noFill/>
          <a:ln/>
        </p:spPr>
        <p:txBody>
          <a:bodyPr wrap="square" lIns="0" tIns="0" rIns="0" bIns="0" rtlCol="0" anchor="ctr"/>
          <a:lstStyle/>
          <a:p>
            <a:pPr marL="0" indent="0">
              <a:buNone/>
            </a:pPr>
            <a:r>
              <a:rPr lang="en-US" sz="1200" dirty="0">
                <a:solidFill>
                  <a:srgbClr val="8A9BB5"/>
                </a:solidFill>
                <a:latin typeface="Calibri" pitchFamily="34" charset="0"/>
                <a:ea typeface="Calibri" pitchFamily="34" charset="-122"/>
                <a:cs typeface="Calibri" pitchFamily="34" charset="-120"/>
              </a:rPr>
              <a:t>Designers and PMs can use Claude with Figma files and generate FigJam diagrams</a:t>
            </a:r>
            <a:endParaRPr lang="en-US" sz="1200" dirty="0"/>
          </a:p>
        </p:txBody>
      </p:sp>
      <p:sp>
        <p:nvSpPr>
          <p:cNvPr id="7" name="Text 5"/>
          <p:cNvSpPr/>
          <p:nvPr/>
        </p:nvSpPr>
        <p:spPr>
          <a:xfrm>
            <a:off x="548640" y="1600200"/>
            <a:ext cx="411480" cy="457200"/>
          </a:xfrm>
          <a:prstGeom prst="rect">
            <a:avLst/>
          </a:prstGeom>
          <a:noFill/>
          <a:ln/>
        </p:spPr>
        <p:txBody>
          <a:bodyPr wrap="square" lIns="0" tIns="0" rIns="0" bIns="0" rtlCol="0" anchor="t"/>
          <a:lstStyle/>
          <a:p>
            <a:pPr marL="0" indent="0">
              <a:buNone/>
            </a:pPr>
            <a:r>
              <a:rPr lang="en-US" sz="2600" b="1" dirty="0">
                <a:solidFill>
                  <a:srgbClr val="0ABAB5"/>
                </a:solidFill>
                <a:latin typeface="Arial" pitchFamily="34" charset="0"/>
                <a:ea typeface="Arial" pitchFamily="34" charset="-122"/>
                <a:cs typeface="Arial" pitchFamily="34" charset="-120"/>
              </a:rPr>
              <a:t>2</a:t>
            </a:r>
            <a:endParaRPr lang="en-US" sz="2600" dirty="0"/>
          </a:p>
        </p:txBody>
      </p:sp>
      <p:sp>
        <p:nvSpPr>
          <p:cNvPr id="8" name="Text 6"/>
          <p:cNvSpPr/>
          <p:nvPr/>
        </p:nvSpPr>
        <p:spPr>
          <a:xfrm>
            <a:off x="1051560" y="1600200"/>
            <a:ext cx="74980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Remote MCP vs Desktop MCP = Flexibility vs Precision</a:t>
            </a:r>
            <a:endParaRPr lang="en-US" sz="1500" dirty="0"/>
          </a:p>
        </p:txBody>
      </p:sp>
      <p:sp>
        <p:nvSpPr>
          <p:cNvPr id="9" name="Text 7"/>
          <p:cNvSpPr/>
          <p:nvPr/>
        </p:nvSpPr>
        <p:spPr>
          <a:xfrm>
            <a:off x="1051560" y="1874520"/>
            <a:ext cx="7498080" cy="256032"/>
          </a:xfrm>
          <a:prstGeom prst="rect">
            <a:avLst/>
          </a:prstGeom>
          <a:noFill/>
          <a:ln/>
        </p:spPr>
        <p:txBody>
          <a:bodyPr wrap="square" lIns="0" tIns="0" rIns="0" bIns="0" rtlCol="0" anchor="ctr"/>
          <a:lstStyle/>
          <a:p>
            <a:pPr marL="0" indent="0">
              <a:buNone/>
            </a:pPr>
            <a:r>
              <a:rPr lang="en-US" sz="1200" dirty="0">
                <a:solidFill>
                  <a:srgbClr val="8A9BB5"/>
                </a:solidFill>
                <a:latin typeface="Calibri" pitchFamily="34" charset="0"/>
                <a:ea typeface="Calibri" pitchFamily="34" charset="-122"/>
                <a:cs typeface="Calibri" pitchFamily="34" charset="-120"/>
              </a:rPr>
              <a:t>Remote for quick work and async. Desktop for daily selection-based workflows</a:t>
            </a:r>
            <a:endParaRPr lang="en-US" sz="1200" dirty="0"/>
          </a:p>
        </p:txBody>
      </p:sp>
      <p:sp>
        <p:nvSpPr>
          <p:cNvPr id="10" name="Text 8"/>
          <p:cNvSpPr/>
          <p:nvPr/>
        </p:nvSpPr>
        <p:spPr>
          <a:xfrm>
            <a:off x="548640" y="2240280"/>
            <a:ext cx="411480" cy="457200"/>
          </a:xfrm>
          <a:prstGeom prst="rect">
            <a:avLst/>
          </a:prstGeom>
          <a:noFill/>
          <a:ln/>
        </p:spPr>
        <p:txBody>
          <a:bodyPr wrap="square" lIns="0" tIns="0" rIns="0" bIns="0" rtlCol="0" anchor="t"/>
          <a:lstStyle/>
          <a:p>
            <a:pPr marL="0" indent="0">
              <a:buNone/>
            </a:pPr>
            <a:r>
              <a:rPr lang="en-US" sz="2600" b="1" dirty="0">
                <a:solidFill>
                  <a:srgbClr val="0ABAB5"/>
                </a:solidFill>
                <a:latin typeface="Arial" pitchFamily="34" charset="0"/>
                <a:ea typeface="Arial" pitchFamily="34" charset="-122"/>
                <a:cs typeface="Arial" pitchFamily="34" charset="-120"/>
              </a:rPr>
              <a:t>3</a:t>
            </a:r>
            <a:endParaRPr lang="en-US" sz="2600" dirty="0"/>
          </a:p>
        </p:txBody>
      </p:sp>
      <p:sp>
        <p:nvSpPr>
          <p:cNvPr id="11" name="Text 9"/>
          <p:cNvSpPr/>
          <p:nvPr/>
        </p:nvSpPr>
        <p:spPr>
          <a:xfrm>
            <a:off x="1051560" y="2240280"/>
            <a:ext cx="74980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Code to Canvas inverts the pipeline</a:t>
            </a:r>
            <a:endParaRPr lang="en-US" sz="1500" dirty="0"/>
          </a:p>
        </p:txBody>
      </p:sp>
      <p:sp>
        <p:nvSpPr>
          <p:cNvPr id="12" name="Text 10"/>
          <p:cNvSpPr/>
          <p:nvPr/>
        </p:nvSpPr>
        <p:spPr>
          <a:xfrm>
            <a:off x="1051560" y="2514600"/>
            <a:ext cx="7498080" cy="256032"/>
          </a:xfrm>
          <a:prstGeom prst="rect">
            <a:avLst/>
          </a:prstGeom>
          <a:noFill/>
          <a:ln/>
        </p:spPr>
        <p:txBody>
          <a:bodyPr wrap="square" lIns="0" tIns="0" rIns="0" bIns="0" rtlCol="0" anchor="ctr"/>
          <a:lstStyle/>
          <a:p>
            <a:pPr marL="0" indent="0">
              <a:buNone/>
            </a:pPr>
            <a:r>
              <a:rPr lang="en-US" sz="1200" dirty="0">
                <a:solidFill>
                  <a:srgbClr val="8A9BB5"/>
                </a:solidFill>
                <a:latin typeface="Calibri" pitchFamily="34" charset="0"/>
                <a:ea typeface="Calibri" pitchFamily="34" charset="-122"/>
                <a:cs typeface="Calibri" pitchFamily="34" charset="-120"/>
              </a:rPr>
              <a:t>Code-generated UIs become editable Figma frames for designer review</a:t>
            </a:r>
            <a:endParaRPr lang="en-US" sz="1200" dirty="0"/>
          </a:p>
        </p:txBody>
      </p:sp>
      <p:sp>
        <p:nvSpPr>
          <p:cNvPr id="13" name="Text 11"/>
          <p:cNvSpPr/>
          <p:nvPr/>
        </p:nvSpPr>
        <p:spPr>
          <a:xfrm>
            <a:off x="548640" y="2880360"/>
            <a:ext cx="411480" cy="457200"/>
          </a:xfrm>
          <a:prstGeom prst="rect">
            <a:avLst/>
          </a:prstGeom>
          <a:noFill/>
          <a:ln/>
        </p:spPr>
        <p:txBody>
          <a:bodyPr wrap="square" lIns="0" tIns="0" rIns="0" bIns="0" rtlCol="0" anchor="t"/>
          <a:lstStyle/>
          <a:p>
            <a:pPr marL="0" indent="0">
              <a:buNone/>
            </a:pPr>
            <a:r>
              <a:rPr lang="en-US" sz="2600" b="1" dirty="0">
                <a:solidFill>
                  <a:srgbClr val="0ABAB5"/>
                </a:solidFill>
                <a:latin typeface="Arial" pitchFamily="34" charset="0"/>
                <a:ea typeface="Arial" pitchFamily="34" charset="-122"/>
                <a:cs typeface="Arial" pitchFamily="34" charset="-120"/>
              </a:rPr>
              <a:t>4</a:t>
            </a:r>
            <a:endParaRPr lang="en-US" sz="2600" dirty="0"/>
          </a:p>
        </p:txBody>
      </p:sp>
      <p:sp>
        <p:nvSpPr>
          <p:cNvPr id="14" name="Text 12"/>
          <p:cNvSpPr/>
          <p:nvPr/>
        </p:nvSpPr>
        <p:spPr>
          <a:xfrm>
            <a:off x="1051560" y="2880360"/>
            <a:ext cx="74980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Code Connect prevents hallucinated components</a:t>
            </a:r>
            <a:endParaRPr lang="en-US" sz="1500" dirty="0"/>
          </a:p>
        </p:txBody>
      </p:sp>
      <p:sp>
        <p:nvSpPr>
          <p:cNvPr id="15" name="Text 13"/>
          <p:cNvSpPr/>
          <p:nvPr/>
        </p:nvSpPr>
        <p:spPr>
          <a:xfrm>
            <a:off x="1051560" y="3154680"/>
            <a:ext cx="7498080" cy="256032"/>
          </a:xfrm>
          <a:prstGeom prst="rect">
            <a:avLst/>
          </a:prstGeom>
          <a:noFill/>
          <a:ln/>
        </p:spPr>
        <p:txBody>
          <a:bodyPr wrap="square" lIns="0" tIns="0" rIns="0" bIns="0" rtlCol="0" anchor="ctr"/>
          <a:lstStyle/>
          <a:p>
            <a:pPr marL="0" indent="0">
              <a:buNone/>
            </a:pPr>
            <a:r>
              <a:rPr lang="en-US" sz="1200" dirty="0">
                <a:solidFill>
                  <a:srgbClr val="8A9BB5"/>
                </a:solidFill>
                <a:latin typeface="Calibri" pitchFamily="34" charset="0"/>
                <a:ea typeface="Calibri" pitchFamily="34" charset="-122"/>
                <a:cs typeface="Calibri" pitchFamily="34" charset="-120"/>
              </a:rPr>
              <a:t>Explicit mappings ensure Claude uses your actual component library</a:t>
            </a:r>
            <a:endParaRPr lang="en-US" sz="1200" dirty="0"/>
          </a:p>
        </p:txBody>
      </p:sp>
      <p:sp>
        <p:nvSpPr>
          <p:cNvPr id="16" name="Text 14"/>
          <p:cNvSpPr/>
          <p:nvPr/>
        </p:nvSpPr>
        <p:spPr>
          <a:xfrm>
            <a:off x="548640" y="3520440"/>
            <a:ext cx="411480" cy="457200"/>
          </a:xfrm>
          <a:prstGeom prst="rect">
            <a:avLst/>
          </a:prstGeom>
          <a:noFill/>
          <a:ln/>
        </p:spPr>
        <p:txBody>
          <a:bodyPr wrap="square" lIns="0" tIns="0" rIns="0" bIns="0" rtlCol="0" anchor="t"/>
          <a:lstStyle/>
          <a:p>
            <a:pPr marL="0" indent="0">
              <a:buNone/>
            </a:pPr>
            <a:r>
              <a:rPr lang="en-US" sz="2600" b="1" dirty="0">
                <a:solidFill>
                  <a:srgbClr val="0ABAB5"/>
                </a:solidFill>
                <a:latin typeface="Arial" pitchFamily="34" charset="0"/>
                <a:ea typeface="Arial" pitchFamily="34" charset="-122"/>
                <a:cs typeface="Arial" pitchFamily="34" charset="-120"/>
              </a:rPr>
              <a:t>5</a:t>
            </a:r>
            <a:endParaRPr lang="en-US" sz="2600" dirty="0"/>
          </a:p>
        </p:txBody>
      </p:sp>
      <p:sp>
        <p:nvSpPr>
          <p:cNvPr id="17" name="Text 15"/>
          <p:cNvSpPr/>
          <p:nvPr/>
        </p:nvSpPr>
        <p:spPr>
          <a:xfrm>
            <a:off x="1051560" y="3520440"/>
            <a:ext cx="74980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Design System Rules bridge the gap permanently</a:t>
            </a:r>
            <a:endParaRPr lang="en-US" sz="1500" dirty="0"/>
          </a:p>
        </p:txBody>
      </p:sp>
      <p:sp>
        <p:nvSpPr>
          <p:cNvPr id="18" name="Text 16"/>
          <p:cNvSpPr/>
          <p:nvPr/>
        </p:nvSpPr>
        <p:spPr>
          <a:xfrm>
            <a:off x="1051560" y="3794760"/>
            <a:ext cx="7498080" cy="256032"/>
          </a:xfrm>
          <a:prstGeom prst="rect">
            <a:avLst/>
          </a:prstGeom>
          <a:noFill/>
          <a:ln/>
        </p:spPr>
        <p:txBody>
          <a:bodyPr wrap="square" lIns="0" tIns="0" rIns="0" bIns="0" rtlCol="0" anchor="ctr"/>
          <a:lstStyle/>
          <a:p>
            <a:pPr marL="0" indent="0">
              <a:buNone/>
            </a:pPr>
            <a:r>
              <a:rPr lang="en-US" sz="1200" dirty="0">
                <a:solidFill>
                  <a:srgbClr val="8A9BB5"/>
                </a:solidFill>
                <a:latin typeface="Calibri" pitchFamily="34" charset="0"/>
                <a:ea typeface="Calibri" pitchFamily="34" charset="-122"/>
                <a:cs typeface="Calibri" pitchFamily="34" charset="-120"/>
              </a:rPr>
              <a:t>Auto-generated rules file encodes design conventions for every session</a:t>
            </a:r>
            <a:endParaRPr lang="en-US" sz="1200" dirty="0"/>
          </a:p>
        </p:txBody>
      </p:sp>
      <p:sp>
        <p:nvSpPr>
          <p:cNvPr id="19" name="Text 17"/>
          <p:cNvSpPr/>
          <p:nvPr/>
        </p:nvSpPr>
        <p:spPr>
          <a:xfrm>
            <a:off x="548640" y="4160520"/>
            <a:ext cx="411480" cy="457200"/>
          </a:xfrm>
          <a:prstGeom prst="rect">
            <a:avLst/>
          </a:prstGeom>
          <a:noFill/>
          <a:ln/>
        </p:spPr>
        <p:txBody>
          <a:bodyPr wrap="square" lIns="0" tIns="0" rIns="0" bIns="0" rtlCol="0" anchor="t"/>
          <a:lstStyle/>
          <a:p>
            <a:pPr marL="0" indent="0">
              <a:buNone/>
            </a:pPr>
            <a:r>
              <a:rPr lang="en-US" sz="2600" b="1" dirty="0">
                <a:solidFill>
                  <a:srgbClr val="0ABAB5"/>
                </a:solidFill>
                <a:latin typeface="Arial" pitchFamily="34" charset="0"/>
                <a:ea typeface="Arial" pitchFamily="34" charset="-122"/>
                <a:cs typeface="Arial" pitchFamily="34" charset="-120"/>
              </a:rPr>
              <a:t>6</a:t>
            </a:r>
            <a:endParaRPr lang="en-US" sz="2600" dirty="0"/>
          </a:p>
        </p:txBody>
      </p:sp>
      <p:sp>
        <p:nvSpPr>
          <p:cNvPr id="20" name="Text 18"/>
          <p:cNvSpPr/>
          <p:nvPr/>
        </p:nvSpPr>
        <p:spPr>
          <a:xfrm>
            <a:off x="1051560" y="4160520"/>
            <a:ext cx="749808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ecosystem is bidirectional</a:t>
            </a:r>
            <a:endParaRPr lang="en-US" sz="1500" dirty="0"/>
          </a:p>
        </p:txBody>
      </p:sp>
      <p:sp>
        <p:nvSpPr>
          <p:cNvPr id="21" name="Text 19"/>
          <p:cNvSpPr/>
          <p:nvPr/>
        </p:nvSpPr>
        <p:spPr>
          <a:xfrm>
            <a:off x="1051560" y="4434840"/>
            <a:ext cx="7498080" cy="256032"/>
          </a:xfrm>
          <a:prstGeom prst="rect">
            <a:avLst/>
          </a:prstGeom>
          <a:noFill/>
          <a:ln/>
        </p:spPr>
        <p:txBody>
          <a:bodyPr wrap="square" lIns="0" tIns="0" rIns="0" bIns="0" rtlCol="0" anchor="ctr"/>
          <a:lstStyle/>
          <a:p>
            <a:pPr marL="0" indent="0">
              <a:buNone/>
            </a:pPr>
            <a:r>
              <a:rPr lang="en-US" sz="1200" dirty="0">
                <a:solidFill>
                  <a:srgbClr val="8A9BB5"/>
                </a:solidFill>
                <a:latin typeface="Calibri" pitchFamily="34" charset="0"/>
                <a:ea typeface="Calibri" pitchFamily="34" charset="-122"/>
                <a:cs typeface="Calibri" pitchFamily="34" charset="-120"/>
              </a:rPr>
              <a:t>Design → Code via MCP. Code → Figma via Canvas. Tokens sync both ways.</a:t>
            </a:r>
            <a:endParaRPr lang="en-US" sz="1200" dirty="0"/>
          </a:p>
        </p:txBody>
      </p:sp>
      <p:sp>
        <p:nvSpPr>
          <p:cNvPr id="22" name="Shape 20"/>
          <p:cNvSpPr/>
          <p:nvPr/>
        </p:nvSpPr>
        <p:spPr>
          <a:xfrm>
            <a:off x="548640" y="4709160"/>
            <a:ext cx="8046720" cy="27432"/>
          </a:xfrm>
          <a:prstGeom prst="rect">
            <a:avLst/>
          </a:prstGeom>
          <a:solidFill>
            <a:srgbClr val="0ABAB5"/>
          </a:solidFill>
          <a:ln/>
        </p:spPr>
        <p:txBody>
          <a:bodyPr/>
          <a:lstStyle/>
          <a:p>
            <a:endParaRPr lang="en-US"/>
          </a:p>
        </p:txBody>
      </p:sp>
      <p:sp>
        <p:nvSpPr>
          <p:cNvPr id="23" name="Text 21"/>
          <p:cNvSpPr/>
          <p:nvPr/>
        </p:nvSpPr>
        <p:spPr>
          <a:xfrm>
            <a:off x="548640" y="4800600"/>
            <a:ext cx="8046720" cy="320040"/>
          </a:xfrm>
          <a:prstGeom prst="rect">
            <a:avLst/>
          </a:prstGeom>
          <a:noFill/>
          <a:ln/>
        </p:spPr>
        <p:txBody>
          <a:bodyPr wrap="square" lIns="0" tIns="0" rIns="0" bIns="0" rtlCol="0" anchor="ctr"/>
          <a:lstStyle/>
          <a:p>
            <a:pPr marL="0" indent="0">
              <a:buNone/>
            </a:pPr>
            <a:r>
              <a:rPr lang="en-US" sz="1150" i="1" dirty="0">
                <a:solidFill>
                  <a:srgbClr val="0ABAB5"/>
                </a:solidFill>
                <a:latin typeface="Calibri" pitchFamily="34" charset="0"/>
                <a:ea typeface="Calibri" pitchFamily="34" charset="-122"/>
                <a:cs typeface="Calibri" pitchFamily="34" charset="-120"/>
              </a:rPr>
              <a:t>The goal: eliminate the translation tax between design and code. Claude handles the translation. Your team focuses on the decisions.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1998</Words>
  <Application>Microsoft Office PowerPoint</Application>
  <PresentationFormat>On-screen Show (16:9)</PresentationFormat>
  <Paragraphs>299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Figma-Claude Ecosystem</dc:title>
  <dc:subject>PptxGenJS Presentation</dc:subject>
  <dc:creator>Session 3 — Claude Code Training</dc:creator>
  <cp:lastModifiedBy>Sean McCarthy</cp:lastModifiedBy>
  <cp:revision>2</cp:revision>
  <dcterms:created xsi:type="dcterms:W3CDTF">2026-02-25T23:49:05Z</dcterms:created>
  <dcterms:modified xsi:type="dcterms:W3CDTF">2026-02-26T00:25:44Z</dcterms:modified>
</cp:coreProperties>
</file>